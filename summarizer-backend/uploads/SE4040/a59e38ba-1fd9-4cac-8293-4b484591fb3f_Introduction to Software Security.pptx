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256" r:id="rId2"/>
    <p:sldId id="296" r:id="rId3"/>
    <p:sldId id="257" r:id="rId4"/>
    <p:sldId id="258" r:id="rId5"/>
    <p:sldId id="291" r:id="rId6"/>
    <p:sldId id="260" r:id="rId7"/>
    <p:sldId id="259" r:id="rId8"/>
    <p:sldId id="306" r:id="rId9"/>
    <p:sldId id="261" r:id="rId10"/>
    <p:sldId id="262" r:id="rId11"/>
    <p:sldId id="304" r:id="rId12"/>
    <p:sldId id="297" r:id="rId13"/>
    <p:sldId id="302" r:id="rId14"/>
    <p:sldId id="264" r:id="rId15"/>
    <p:sldId id="265" r:id="rId16"/>
    <p:sldId id="295" r:id="rId17"/>
    <p:sldId id="285" r:id="rId18"/>
    <p:sldId id="284" r:id="rId19"/>
    <p:sldId id="316" r:id="rId20"/>
    <p:sldId id="289" r:id="rId21"/>
    <p:sldId id="308" r:id="rId22"/>
    <p:sldId id="266" r:id="rId23"/>
    <p:sldId id="309" r:id="rId24"/>
    <p:sldId id="268" r:id="rId25"/>
    <p:sldId id="269" r:id="rId26"/>
    <p:sldId id="270" r:id="rId27"/>
    <p:sldId id="272" r:id="rId28"/>
    <p:sldId id="317" r:id="rId29"/>
    <p:sldId id="318" r:id="rId30"/>
    <p:sldId id="319" r:id="rId31"/>
    <p:sldId id="320" r:id="rId32"/>
    <p:sldId id="324" r:id="rId33"/>
    <p:sldId id="294" r:id="rId34"/>
    <p:sldId id="263" r:id="rId35"/>
    <p:sldId id="271" r:id="rId36"/>
    <p:sldId id="310" r:id="rId37"/>
    <p:sldId id="273" r:id="rId38"/>
    <p:sldId id="274" r:id="rId39"/>
    <p:sldId id="311" r:id="rId40"/>
    <p:sldId id="312" r:id="rId41"/>
    <p:sldId id="313" r:id="rId42"/>
    <p:sldId id="325" r:id="rId43"/>
    <p:sldId id="326" r:id="rId44"/>
    <p:sldId id="314" r:id="rId4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Dharshana Kasthurirathna" initials="DK"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35" autoAdjust="0"/>
    <p:restoredTop sz="95033" autoAdjust="0"/>
  </p:normalViewPr>
  <p:slideViewPr>
    <p:cSldViewPr>
      <p:cViewPr>
        <p:scale>
          <a:sx n="100" d="100"/>
          <a:sy n="100" d="100"/>
        </p:scale>
        <p:origin x="974" y="58"/>
      </p:cViewPr>
      <p:guideLst>
        <p:guide orient="horz" pos="2160"/>
        <p:guide pos="2880"/>
      </p:guideLst>
    </p:cSldViewPr>
  </p:slideViewPr>
  <p:notesTextViewPr>
    <p:cViewPr>
      <p:scale>
        <a:sx n="1" d="1"/>
        <a:sy n="1" d="1"/>
      </p:scale>
      <p:origin x="0" y="0"/>
    </p:cViewPr>
  </p:notesTextViewPr>
  <p:notesViewPr>
    <p:cSldViewPr>
      <p:cViewPr varScale="1">
        <p:scale>
          <a:sx n="62" d="100"/>
          <a:sy n="62" d="100"/>
        </p:scale>
        <p:origin x="3226" y="77"/>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7CD6168-73B2-4A3E-B293-FEE7015DE7F0}" type="datetimeFigureOut">
              <a:rPr lang="en-US" smtClean="0"/>
              <a:t>7/13/2026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949CDB3-1F37-4C1C-9885-E239DF8A4614}" type="slidenum">
              <a:rPr lang="en-US" smtClean="0"/>
              <a:t>‹#›</a:t>
            </a:fld>
            <a:endParaRPr lang="en-US"/>
          </a:p>
        </p:txBody>
      </p:sp>
    </p:spTree>
    <p:extLst>
      <p:ext uri="{BB962C8B-B14F-4D97-AF65-F5344CB8AC3E}">
        <p14:creationId xmlns:p14="http://schemas.microsoft.com/office/powerpoint/2010/main" val="18709201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949CDB3-1F37-4C1C-9885-E239DF8A4614}" type="slidenum">
              <a:rPr lang="en-US" smtClean="0"/>
              <a:t>14</a:t>
            </a:fld>
            <a:endParaRPr lang="en-US"/>
          </a:p>
        </p:txBody>
      </p:sp>
    </p:spTree>
    <p:extLst>
      <p:ext uri="{BB962C8B-B14F-4D97-AF65-F5344CB8AC3E}">
        <p14:creationId xmlns:p14="http://schemas.microsoft.com/office/powerpoint/2010/main" val="24603327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2949CDB3-1F37-4C1C-9885-E239DF8A4614}" type="slidenum">
              <a:rPr lang="en-US" smtClean="0"/>
              <a:t>17</a:t>
            </a:fld>
            <a:endParaRPr lang="en-US"/>
          </a:p>
        </p:txBody>
      </p:sp>
    </p:spTree>
    <p:extLst>
      <p:ext uri="{BB962C8B-B14F-4D97-AF65-F5344CB8AC3E}">
        <p14:creationId xmlns:p14="http://schemas.microsoft.com/office/powerpoint/2010/main" val="5254074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49CDB3-1F37-4C1C-9885-E239DF8A4614}" type="slidenum">
              <a:rPr lang="en-US" smtClean="0"/>
              <a:t>41</a:t>
            </a:fld>
            <a:endParaRPr lang="en-US"/>
          </a:p>
        </p:txBody>
      </p:sp>
    </p:spTree>
    <p:extLst>
      <p:ext uri="{BB962C8B-B14F-4D97-AF65-F5344CB8AC3E}">
        <p14:creationId xmlns:p14="http://schemas.microsoft.com/office/powerpoint/2010/main" val="16855702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E976814-D2BC-4B49-83F0-C8D0ED9568A9}"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1975F8-FEA1-457A-BA54-0DF5C337B2FA}" type="slidenum">
              <a:rPr lang="en-US" smtClean="0"/>
              <a:t>‹#›</a:t>
            </a:fld>
            <a:endParaRPr lang="en-US"/>
          </a:p>
        </p:txBody>
      </p:sp>
    </p:spTree>
    <p:extLst>
      <p:ext uri="{BB962C8B-B14F-4D97-AF65-F5344CB8AC3E}">
        <p14:creationId xmlns:p14="http://schemas.microsoft.com/office/powerpoint/2010/main" val="14606276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E976814-D2BC-4B49-83F0-C8D0ED9568A9}"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1975F8-FEA1-457A-BA54-0DF5C337B2FA}" type="slidenum">
              <a:rPr lang="en-US" smtClean="0"/>
              <a:t>‹#›</a:t>
            </a:fld>
            <a:endParaRPr lang="en-US"/>
          </a:p>
        </p:txBody>
      </p:sp>
    </p:spTree>
    <p:extLst>
      <p:ext uri="{BB962C8B-B14F-4D97-AF65-F5344CB8AC3E}">
        <p14:creationId xmlns:p14="http://schemas.microsoft.com/office/powerpoint/2010/main" val="1288707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976814-D2BC-4B49-83F0-C8D0ED9568A9}"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1975F8-FEA1-457A-BA54-0DF5C337B2FA}" type="slidenum">
              <a:rPr lang="en-US" smtClean="0"/>
              <a:t>‹#›</a:t>
            </a:fld>
            <a:endParaRPr lang="en-US"/>
          </a:p>
        </p:txBody>
      </p:sp>
    </p:spTree>
    <p:extLst>
      <p:ext uri="{BB962C8B-B14F-4D97-AF65-F5344CB8AC3E}">
        <p14:creationId xmlns:p14="http://schemas.microsoft.com/office/powerpoint/2010/main" val="12729255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E976814-D2BC-4B49-83F0-C8D0ED9568A9}" type="datetimeFigureOut">
              <a:rPr lang="en-US" smtClean="0"/>
              <a:t>7/13/2026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1975F8-FEA1-457A-BA54-0DF5C337B2FA}" type="slidenum">
              <a:rPr lang="en-US" smtClean="0"/>
              <a:t>‹#›</a:t>
            </a:fld>
            <a:endParaRPr lang="en-US"/>
          </a:p>
        </p:txBody>
      </p:sp>
    </p:spTree>
    <p:extLst>
      <p:ext uri="{BB962C8B-B14F-4D97-AF65-F5344CB8AC3E}">
        <p14:creationId xmlns:p14="http://schemas.microsoft.com/office/powerpoint/2010/main" val="5623964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E976814-D2BC-4B49-83F0-C8D0ED9568A9}" type="datetimeFigureOut">
              <a:rPr lang="en-US" smtClean="0"/>
              <a:t>7/13/2026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C1975F8-FEA1-457A-BA54-0DF5C337B2FA}" type="slidenum">
              <a:rPr lang="en-US" smtClean="0"/>
              <a:t>‹#›</a:t>
            </a:fld>
            <a:endParaRPr lang="en-US"/>
          </a:p>
        </p:txBody>
      </p:sp>
    </p:spTree>
    <p:extLst>
      <p:ext uri="{BB962C8B-B14F-4D97-AF65-F5344CB8AC3E}">
        <p14:creationId xmlns:p14="http://schemas.microsoft.com/office/powerpoint/2010/main" val="1378743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E976814-D2BC-4B49-83F0-C8D0ED9568A9}" type="datetimeFigureOut">
              <a:rPr lang="en-US" smtClean="0"/>
              <a:t>7/13/2026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1975F8-FEA1-457A-BA54-0DF5C337B2FA}" type="slidenum">
              <a:rPr lang="en-US" smtClean="0"/>
              <a:t>‹#›</a:t>
            </a:fld>
            <a:endParaRPr lang="en-US"/>
          </a:p>
        </p:txBody>
      </p:sp>
    </p:spTree>
    <p:extLst>
      <p:ext uri="{BB962C8B-B14F-4D97-AF65-F5344CB8AC3E}">
        <p14:creationId xmlns:p14="http://schemas.microsoft.com/office/powerpoint/2010/main" val="3102811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976814-D2BC-4B49-83F0-C8D0ED9568A9}" type="datetimeFigureOut">
              <a:rPr lang="en-US" smtClean="0"/>
              <a:t>7/13/2026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C1975F8-FEA1-457A-BA54-0DF5C337B2FA}" type="slidenum">
              <a:rPr lang="en-US" smtClean="0"/>
              <a:t>‹#›</a:t>
            </a:fld>
            <a:endParaRPr lang="en-US"/>
          </a:p>
        </p:txBody>
      </p:sp>
    </p:spTree>
    <p:extLst>
      <p:ext uri="{BB962C8B-B14F-4D97-AF65-F5344CB8AC3E}">
        <p14:creationId xmlns:p14="http://schemas.microsoft.com/office/powerpoint/2010/main" val="40206076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976814-D2BC-4B49-83F0-C8D0ED9568A9}" type="datetimeFigureOut">
              <a:rPr lang="en-US" smtClean="0"/>
              <a:t>7/13/2026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1975F8-FEA1-457A-BA54-0DF5C337B2FA}" type="slidenum">
              <a:rPr lang="en-US" smtClean="0"/>
              <a:t>‹#›</a:t>
            </a:fld>
            <a:endParaRPr lang="en-US"/>
          </a:p>
        </p:txBody>
      </p:sp>
    </p:spTree>
    <p:extLst>
      <p:ext uri="{BB962C8B-B14F-4D97-AF65-F5344CB8AC3E}">
        <p14:creationId xmlns:p14="http://schemas.microsoft.com/office/powerpoint/2010/main" val="24920295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976814-D2BC-4B49-83F0-C8D0ED9568A9}" type="datetimeFigureOut">
              <a:rPr lang="en-US" smtClean="0"/>
              <a:t>7/13/2026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1975F8-FEA1-457A-BA54-0DF5C337B2FA}" type="slidenum">
              <a:rPr lang="en-US" smtClean="0"/>
              <a:t>‹#›</a:t>
            </a:fld>
            <a:endParaRPr lang="en-US"/>
          </a:p>
        </p:txBody>
      </p:sp>
    </p:spTree>
    <p:extLst>
      <p:ext uri="{BB962C8B-B14F-4D97-AF65-F5344CB8AC3E}">
        <p14:creationId xmlns:p14="http://schemas.microsoft.com/office/powerpoint/2010/main" val="19223161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E976814-D2BC-4B49-83F0-C8D0ED9568A9}"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1975F8-FEA1-457A-BA54-0DF5C337B2FA}" type="slidenum">
              <a:rPr lang="en-US" smtClean="0"/>
              <a:t>‹#›</a:t>
            </a:fld>
            <a:endParaRPr lang="en-US"/>
          </a:p>
        </p:txBody>
      </p:sp>
    </p:spTree>
    <p:extLst>
      <p:ext uri="{BB962C8B-B14F-4D97-AF65-F5344CB8AC3E}">
        <p14:creationId xmlns:p14="http://schemas.microsoft.com/office/powerpoint/2010/main" val="31013470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E976814-D2BC-4B49-83F0-C8D0ED9568A9}"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1975F8-FEA1-457A-BA54-0DF5C337B2FA}" type="slidenum">
              <a:rPr lang="en-US" smtClean="0"/>
              <a:t>‹#›</a:t>
            </a:fld>
            <a:endParaRPr lang="en-US"/>
          </a:p>
        </p:txBody>
      </p:sp>
    </p:spTree>
    <p:extLst>
      <p:ext uri="{BB962C8B-B14F-4D97-AF65-F5344CB8AC3E}">
        <p14:creationId xmlns:p14="http://schemas.microsoft.com/office/powerpoint/2010/main" val="35492898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976814-D2BC-4B49-83F0-C8D0ED9568A9}" type="datetimeFigureOut">
              <a:rPr lang="en-US" smtClean="0"/>
              <a:t>7/13/2026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1975F8-FEA1-457A-BA54-0DF5C337B2FA}" type="slidenum">
              <a:rPr lang="en-US" smtClean="0"/>
              <a:t>‹#›</a:t>
            </a:fld>
            <a:endParaRPr lang="en-US"/>
          </a:p>
        </p:txBody>
      </p:sp>
    </p:spTree>
    <p:extLst>
      <p:ext uri="{BB962C8B-B14F-4D97-AF65-F5344CB8AC3E}">
        <p14:creationId xmlns:p14="http://schemas.microsoft.com/office/powerpoint/2010/main" val="11503302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dka@ucsc.cmb.ac.lk" TargetMode="External"/><Relationship Id="rId2" Type="http://schemas.openxmlformats.org/officeDocument/2006/relationships/hyperlink" Target="mailto:dharshana.k@sliit.lk"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hyperlink" Target="https://en.wikipedia.org/wiki/Stuxnet" TargetMode="External"/><Relationship Id="rId3" Type="http://schemas.openxmlformats.org/officeDocument/2006/relationships/hyperlink" Target="https://bgr.com/2016/03/16/jennifer-lawrence-nudes-icloud-hack/" TargetMode="External"/><Relationship Id="rId7" Type="http://schemas.openxmlformats.org/officeDocument/2006/relationships/hyperlink" Target="https://www.csoonline.com/article/562691/stuxnet-explained-the-first-known-cyberweapon.html"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www.crn.com/news/security/10-major-cyberattacks-and-data-breaches-in-2023" TargetMode="External"/><Relationship Id="rId5" Type="http://schemas.openxmlformats.org/officeDocument/2006/relationships/hyperlink" Target="https://www.zdnet.com/article/facebook-could-face-billions-in-fines-under-gdpr-over-latest-data-breach/" TargetMode="External"/><Relationship Id="rId4" Type="http://schemas.openxmlformats.org/officeDocument/2006/relationships/hyperlink" Target="https://www.theguardian.com/technology/2018/sep/28/facebook-50-million-user-accounts-security-berach" TargetMode="External"/><Relationship Id="rId9"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espincorp.wordpress.com/tag/cost-to-fix-bugs/"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www.cert.org/cybersecurity-engineering/index.cfm#swamodel" TargetMode="Externa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resources.infosecinstitute.com/intro-secure-software-development-life-cycle/"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youtube.com/watch?v=KG4F5xKqNf4"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wso2.com/technical-reports/wso2-secure-engineering-guidelines"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www.csoonline.com/article/567833/equifax-data-breach-faq-what-happened-who-was-affected-what-was-the-impact.html" TargetMode="External"/><Relationship Id="rId2" Type="http://schemas.openxmlformats.org/officeDocument/2006/relationships/hyperlink" Target="https://www.techtarget.com/whatis/feature/SolarWinds-hack-explained-Everything-you-need-to-know" TargetMode="External"/><Relationship Id="rId1" Type="http://schemas.openxmlformats.org/officeDocument/2006/relationships/slideLayout" Target="../slideLayouts/slideLayout2.xml"/><Relationship Id="rId4" Type="http://schemas.openxmlformats.org/officeDocument/2006/relationships/hyperlink" Target="https://www.csoonline.com/article/563017/wannacry-explained-a-perfect-ransomware-storm.html"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www.nist.gov/cyberframework" TargetMode="External"/><Relationship Id="rId2" Type="http://schemas.openxmlformats.org/officeDocument/2006/relationships/hyperlink" Target="https://www.owasp.org/images/b/bd/Bsimm09.pdf" TargetMode="External"/><Relationship Id="rId1" Type="http://schemas.openxmlformats.org/officeDocument/2006/relationships/slideLayout" Target="../slideLayouts/slideLayout2.xml"/><Relationship Id="rId4" Type="http://schemas.openxmlformats.org/officeDocument/2006/relationships/hyperlink" Target="https://www.blackhat.com/presentations/bh-usa-06/bh-us-06-Morana-R3.0.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 to Software Security</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40033540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33914-49D8-0607-D932-0AC1FC828E49}"/>
              </a:ext>
            </a:extLst>
          </p:cNvPr>
          <p:cNvSpPr>
            <a:spLocks noGrp="1"/>
          </p:cNvSpPr>
          <p:nvPr>
            <p:ph type="title"/>
          </p:nvPr>
        </p:nvSpPr>
        <p:spPr/>
        <p:txBody>
          <a:bodyPr/>
          <a:lstStyle/>
          <a:p>
            <a:r>
              <a:rPr lang="en-US" dirty="0"/>
              <a:t>About me</a:t>
            </a:r>
          </a:p>
        </p:txBody>
      </p:sp>
      <p:sp>
        <p:nvSpPr>
          <p:cNvPr id="3" name="Content Placeholder 2">
            <a:extLst>
              <a:ext uri="{FF2B5EF4-FFF2-40B4-BE49-F238E27FC236}">
                <a16:creationId xmlns:a16="http://schemas.microsoft.com/office/drawing/2014/main" id="{6F211F17-B2AE-7E1B-963C-816E4F47E7E4}"/>
              </a:ext>
            </a:extLst>
          </p:cNvPr>
          <p:cNvSpPr>
            <a:spLocks noGrp="1"/>
          </p:cNvSpPr>
          <p:nvPr>
            <p:ph idx="1"/>
          </p:nvPr>
        </p:nvSpPr>
        <p:spPr/>
        <p:txBody>
          <a:bodyPr/>
          <a:lstStyle/>
          <a:p>
            <a:r>
              <a:rPr lang="en-US" dirty="0"/>
              <a:t>Dharshana Kasthurirathna</a:t>
            </a:r>
          </a:p>
          <a:p>
            <a:r>
              <a:rPr lang="en-US" dirty="0"/>
              <a:t>Senior Lecturer at Faculty of Computing, SLIIT (6</a:t>
            </a:r>
            <a:r>
              <a:rPr lang="en-US" baseline="30000" dirty="0"/>
              <a:t>th</a:t>
            </a:r>
            <a:r>
              <a:rPr lang="en-US" dirty="0"/>
              <a:t> floor, main building)</a:t>
            </a:r>
          </a:p>
          <a:p>
            <a:r>
              <a:rPr lang="en-US" dirty="0">
                <a:hlinkClick r:id="rId2"/>
              </a:rPr>
              <a:t>dharshana.k@sliit.lk</a:t>
            </a:r>
            <a:endParaRPr lang="en-US" dirty="0"/>
          </a:p>
          <a:p>
            <a:r>
              <a:rPr lang="en-US" dirty="0">
                <a:hlinkClick r:id="rId3"/>
              </a:rPr>
              <a:t>dka@ucsc.cmb.ac.lk</a:t>
            </a:r>
            <a:endParaRPr lang="en-US" dirty="0"/>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21613353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Course Objectives</a:t>
            </a:r>
          </a:p>
        </p:txBody>
      </p:sp>
      <p:sp>
        <p:nvSpPr>
          <p:cNvPr id="3" name="Content Placeholder 2"/>
          <p:cNvSpPr>
            <a:spLocks noGrp="1"/>
          </p:cNvSpPr>
          <p:nvPr>
            <p:ph idx="1"/>
          </p:nvPr>
        </p:nvSpPr>
        <p:spPr/>
        <p:txBody>
          <a:bodyPr/>
          <a:lstStyle/>
          <a:p>
            <a:r>
              <a:rPr dirty="0"/>
              <a:t>Understand the principles of software security.</a:t>
            </a:r>
          </a:p>
          <a:p>
            <a:r>
              <a:rPr dirty="0"/>
              <a:t>Recognize the importance of secure software development.</a:t>
            </a:r>
          </a:p>
          <a:p>
            <a:r>
              <a:rPr dirty="0"/>
              <a:t>Explore common software vulnerabilities and their impact.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Software Security?</a:t>
            </a:r>
          </a:p>
        </p:txBody>
      </p:sp>
      <p:sp>
        <p:nvSpPr>
          <p:cNvPr id="3" name="Content Placeholder 2"/>
          <p:cNvSpPr>
            <a:spLocks noGrp="1"/>
          </p:cNvSpPr>
          <p:nvPr>
            <p:ph idx="1"/>
          </p:nvPr>
        </p:nvSpPr>
        <p:spPr/>
        <p:txBody>
          <a:bodyPr/>
          <a:lstStyle/>
          <a:p>
            <a:r>
              <a:rPr dirty="0"/>
              <a:t>Definition: Protecting software against unauthorized access, use, disclosure, disruption, modification, or destruction.</a:t>
            </a:r>
          </a:p>
          <a:p>
            <a:r>
              <a:rPr dirty="0"/>
              <a:t>Goal: Ensure confidentiality, integrity, and availability (CIA triad).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Secure Software?</a:t>
            </a:r>
          </a:p>
        </p:txBody>
      </p:sp>
      <p:sp>
        <p:nvSpPr>
          <p:cNvPr id="3" name="Content Placeholder 2"/>
          <p:cNvSpPr>
            <a:spLocks noGrp="1"/>
          </p:cNvSpPr>
          <p:nvPr>
            <p:ph idx="1"/>
          </p:nvPr>
        </p:nvSpPr>
        <p:spPr/>
        <p:txBody>
          <a:bodyPr/>
          <a:lstStyle/>
          <a:p>
            <a:r>
              <a:rPr lang="en-US" dirty="0"/>
              <a:t>“Reliable software does what it is supposed to do.  Secure software does that and nothing else” (Ivan Arce)</a:t>
            </a:r>
          </a:p>
        </p:txBody>
      </p:sp>
    </p:spTree>
    <p:extLst>
      <p:ext uri="{BB962C8B-B14F-4D97-AF65-F5344CB8AC3E}">
        <p14:creationId xmlns:p14="http://schemas.microsoft.com/office/powerpoint/2010/main" val="18812931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Principles of Software Security</a:t>
            </a:r>
          </a:p>
        </p:txBody>
      </p:sp>
      <p:sp>
        <p:nvSpPr>
          <p:cNvPr id="3" name="Content Placeholder 2"/>
          <p:cNvSpPr>
            <a:spLocks noGrp="1"/>
          </p:cNvSpPr>
          <p:nvPr>
            <p:ph idx="1"/>
          </p:nvPr>
        </p:nvSpPr>
        <p:spPr/>
        <p:txBody>
          <a:bodyPr/>
          <a:lstStyle/>
          <a:p>
            <a:r>
              <a:rPr dirty="0"/>
              <a:t>Confidentiality: Ensuring data is accessible only to authorized users.</a:t>
            </a:r>
          </a:p>
          <a:p>
            <a:r>
              <a:rPr dirty="0"/>
              <a:t>Integrity: Ensuring data remains unaltered during storage or transmission.</a:t>
            </a:r>
          </a:p>
          <a:p>
            <a:r>
              <a:rPr dirty="0"/>
              <a:t>Availability: Ensuring software and systems are operational when needed.</a:t>
            </a:r>
          </a:p>
        </p:txBody>
      </p:sp>
    </p:spTree>
    <p:extLst>
      <p:ext uri="{BB962C8B-B14F-4D97-AF65-F5344CB8AC3E}">
        <p14:creationId xmlns:p14="http://schemas.microsoft.com/office/powerpoint/2010/main" val="2699575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Why is Software Security Important?</a:t>
            </a:r>
          </a:p>
        </p:txBody>
      </p:sp>
      <p:sp>
        <p:nvSpPr>
          <p:cNvPr id="3" name="Content Placeholder 2"/>
          <p:cNvSpPr>
            <a:spLocks noGrp="1"/>
          </p:cNvSpPr>
          <p:nvPr>
            <p:ph idx="1"/>
          </p:nvPr>
        </p:nvSpPr>
        <p:spPr/>
        <p:txBody>
          <a:bodyPr/>
          <a:lstStyle/>
          <a:p>
            <a:r>
              <a:rPr dirty="0"/>
              <a:t>Increasing reliance on software in critical systems.</a:t>
            </a:r>
          </a:p>
          <a:p>
            <a:r>
              <a:rPr dirty="0"/>
              <a:t>Rising number of cyberattacks targeting software vulnerabilities.</a:t>
            </a:r>
          </a:p>
          <a:p>
            <a:r>
              <a:rPr dirty="0"/>
              <a:t>Real-world consequences of insecure software (e.g., data breaches, financial loss).</a:t>
            </a:r>
          </a:p>
        </p:txBody>
      </p:sp>
    </p:spTree>
    <p:extLst>
      <p:ext uri="{BB962C8B-B14F-4D97-AF65-F5344CB8AC3E}">
        <p14:creationId xmlns:p14="http://schemas.microsoft.com/office/powerpoint/2010/main" val="2761080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Challenges in Software Security</a:t>
            </a:r>
          </a:p>
        </p:txBody>
      </p:sp>
      <p:sp>
        <p:nvSpPr>
          <p:cNvPr id="3" name="Content Placeholder 2"/>
          <p:cNvSpPr>
            <a:spLocks noGrp="1"/>
          </p:cNvSpPr>
          <p:nvPr>
            <p:ph idx="1"/>
          </p:nvPr>
        </p:nvSpPr>
        <p:spPr/>
        <p:txBody>
          <a:bodyPr/>
          <a:lstStyle/>
          <a:p>
            <a:r>
              <a:rPr dirty="0"/>
              <a:t>Rapid development cycles (DevOps and Agile).</a:t>
            </a:r>
          </a:p>
          <a:p>
            <a:r>
              <a:rPr dirty="0"/>
              <a:t>Complex software ecosystems.</a:t>
            </a:r>
          </a:p>
          <a:p>
            <a:r>
              <a:rPr dirty="0"/>
              <a:t>Lack of awareness and training.</a:t>
            </a:r>
          </a:p>
          <a:p>
            <a:r>
              <a:rPr dirty="0"/>
              <a:t>Insider threats.</a:t>
            </a:r>
          </a:p>
        </p:txBody>
      </p:sp>
    </p:spTree>
    <p:extLst>
      <p:ext uri="{BB962C8B-B14F-4D97-AF65-F5344CB8AC3E}">
        <p14:creationId xmlns:p14="http://schemas.microsoft.com/office/powerpoint/2010/main" val="1903518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Common Software Security Threats</a:t>
            </a:r>
          </a:p>
        </p:txBody>
      </p:sp>
      <p:sp>
        <p:nvSpPr>
          <p:cNvPr id="3" name="Content Placeholder 2"/>
          <p:cNvSpPr>
            <a:spLocks noGrp="1"/>
          </p:cNvSpPr>
          <p:nvPr>
            <p:ph idx="1"/>
          </p:nvPr>
        </p:nvSpPr>
        <p:spPr/>
        <p:txBody>
          <a:bodyPr/>
          <a:lstStyle/>
          <a:p>
            <a:r>
              <a:rPr dirty="0"/>
              <a:t>Malware (viruses, ransomware, spyware).</a:t>
            </a:r>
          </a:p>
          <a:p>
            <a:r>
              <a:rPr dirty="0"/>
              <a:t>Phishing and social engineering attacks.</a:t>
            </a:r>
          </a:p>
          <a:p>
            <a:r>
              <a:rPr dirty="0"/>
              <a:t>Exploitation of vulnerabilities (e.g., buffer overflows, SQL injection).</a:t>
            </a:r>
          </a:p>
          <a:p>
            <a:r>
              <a:rPr dirty="0"/>
              <a:t>Supply chain attacks.</a:t>
            </a:r>
          </a:p>
        </p:txBody>
      </p:sp>
    </p:spTree>
    <p:extLst>
      <p:ext uri="{BB962C8B-B14F-4D97-AF65-F5344CB8AC3E}">
        <p14:creationId xmlns:p14="http://schemas.microsoft.com/office/powerpoint/2010/main" val="2732171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Common Vulnerabilities</a:t>
            </a:r>
          </a:p>
        </p:txBody>
      </p:sp>
      <p:sp>
        <p:nvSpPr>
          <p:cNvPr id="3" name="Content Placeholder 2"/>
          <p:cNvSpPr>
            <a:spLocks noGrp="1"/>
          </p:cNvSpPr>
          <p:nvPr>
            <p:ph idx="1"/>
          </p:nvPr>
        </p:nvSpPr>
        <p:spPr/>
        <p:txBody>
          <a:bodyPr/>
          <a:lstStyle/>
          <a:p>
            <a:pPr marL="0" indent="0">
              <a:buNone/>
            </a:pPr>
            <a:r>
              <a:rPr dirty="0"/>
              <a:t>OWASP Top 10 vulnerabilities:</a:t>
            </a:r>
          </a:p>
          <a:p>
            <a:r>
              <a:rPr dirty="0"/>
              <a:t> </a:t>
            </a:r>
            <a:r>
              <a:rPr lang="en-US" dirty="0"/>
              <a:t> </a:t>
            </a:r>
            <a:r>
              <a:rPr dirty="0"/>
              <a:t>Injection (SQL, command, etc.).</a:t>
            </a:r>
          </a:p>
          <a:p>
            <a:r>
              <a:rPr dirty="0"/>
              <a:t>  Broken Authentication.</a:t>
            </a:r>
          </a:p>
          <a:p>
            <a:r>
              <a:rPr dirty="0"/>
              <a:t>  Sensitive Data Exposure.</a:t>
            </a:r>
          </a:p>
          <a:p>
            <a:r>
              <a:rPr dirty="0"/>
              <a:t>  Security Misconfiguration.</a:t>
            </a:r>
          </a:p>
          <a:p>
            <a:r>
              <a:rPr dirty="0"/>
              <a:t>  Cross-Site Scripting (XSS).</a:t>
            </a:r>
          </a:p>
        </p:txBody>
      </p:sp>
    </p:spTree>
    <p:extLst>
      <p:ext uri="{BB962C8B-B14F-4D97-AF65-F5344CB8AC3E}">
        <p14:creationId xmlns:p14="http://schemas.microsoft.com/office/powerpoint/2010/main" val="2285515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Software Security vs. Application Security</a:t>
            </a:r>
          </a:p>
        </p:txBody>
      </p:sp>
      <p:sp>
        <p:nvSpPr>
          <p:cNvPr id="3" name="Rectangle 2"/>
          <p:cNvSpPr/>
          <p:nvPr/>
        </p:nvSpPr>
        <p:spPr>
          <a:xfrm>
            <a:off x="457200" y="1371600"/>
            <a:ext cx="7772400" cy="914400"/>
          </a:xfrm>
          <a:prstGeom prst="rect">
            <a:avLst/>
          </a:prstGeom>
          <a:solidFill>
            <a:srgbClr val="4F62A0"/>
          </a:solidFill>
        </p:spPr>
        <p:style>
          <a:lnRef idx="1">
            <a:schemeClr val="accent1"/>
          </a:lnRef>
          <a:fillRef idx="3">
            <a:schemeClr val="accent1"/>
          </a:fillRef>
          <a:effectRef idx="2">
            <a:schemeClr val="accent1"/>
          </a:effectRef>
          <a:fontRef idx="minor">
            <a:schemeClr val="lt1"/>
          </a:fontRef>
        </p:style>
        <p:txBody>
          <a:bodyPr rtlCol="0" anchor="ctr"/>
          <a:lstStyle/>
          <a:p>
            <a:pPr>
              <a:defRPr sz="1800" b="1">
                <a:solidFill>
                  <a:srgbClr val="FFFFFF"/>
                </a:solidFill>
              </a:defRPr>
            </a:pPr>
            <a:r>
              <a:t>Application Security</a:t>
            </a:r>
          </a:p>
        </p:txBody>
      </p:sp>
      <p:sp>
        <p:nvSpPr>
          <p:cNvPr id="4" name="TextBox 3"/>
          <p:cNvSpPr txBox="1"/>
          <p:nvPr/>
        </p:nvSpPr>
        <p:spPr>
          <a:xfrm>
            <a:off x="457200" y="2286000"/>
            <a:ext cx="7950125" cy="1823576"/>
          </a:xfrm>
          <a:prstGeom prst="rect">
            <a:avLst/>
          </a:prstGeom>
          <a:noFill/>
        </p:spPr>
        <p:txBody>
          <a:bodyPr wrap="none">
            <a:spAutoFit/>
          </a:bodyPr>
          <a:lstStyle/>
          <a:p>
            <a:endParaRPr sz="2000" dirty="0"/>
          </a:p>
          <a:p>
            <a:pPr>
              <a:spcAft>
                <a:spcPts val="500"/>
              </a:spcAft>
              <a:defRPr sz="1600"/>
            </a:pPr>
            <a:r>
              <a:rPr sz="2000" dirty="0"/>
              <a:t>A way to defend against software exploit after the deployment is complete</a:t>
            </a:r>
          </a:p>
          <a:p>
            <a:pPr lvl="1">
              <a:spcAft>
                <a:spcPts val="500"/>
              </a:spcAft>
              <a:defRPr sz="1600"/>
            </a:pPr>
            <a:r>
              <a:rPr sz="2000" dirty="0"/>
              <a:t>Issue-based short</a:t>
            </a:r>
            <a:r>
              <a:rPr lang="en-US" sz="2000" dirty="0"/>
              <a:t>-</a:t>
            </a:r>
            <a:r>
              <a:rPr sz="2000" dirty="0"/>
              <a:t>term approach</a:t>
            </a:r>
          </a:p>
          <a:p>
            <a:pPr lvl="1">
              <a:spcAft>
                <a:spcPts val="500"/>
              </a:spcAft>
              <a:defRPr sz="1600"/>
            </a:pPr>
            <a:r>
              <a:rPr sz="2000" dirty="0"/>
              <a:t>Penetrate and Patch</a:t>
            </a:r>
          </a:p>
          <a:p>
            <a:pPr lvl="1">
              <a:spcAft>
                <a:spcPts val="500"/>
              </a:spcAft>
              <a:defRPr sz="1600"/>
            </a:pPr>
            <a:r>
              <a:rPr lang="en-US" sz="2000" dirty="0"/>
              <a:t>Reactive</a:t>
            </a:r>
            <a:endParaRPr sz="2000" dirty="0"/>
          </a:p>
        </p:txBody>
      </p:sp>
      <p:sp>
        <p:nvSpPr>
          <p:cNvPr id="5" name="Rectangle 4"/>
          <p:cNvSpPr/>
          <p:nvPr/>
        </p:nvSpPr>
        <p:spPr>
          <a:xfrm>
            <a:off x="457200" y="4389120"/>
            <a:ext cx="7772400" cy="914400"/>
          </a:xfrm>
          <a:prstGeom prst="rect">
            <a:avLst/>
          </a:prstGeom>
          <a:solidFill>
            <a:srgbClr val="4F62A0"/>
          </a:solidFill>
        </p:spPr>
        <p:style>
          <a:lnRef idx="1">
            <a:schemeClr val="accent1"/>
          </a:lnRef>
          <a:fillRef idx="3">
            <a:schemeClr val="accent1"/>
          </a:fillRef>
          <a:effectRef idx="2">
            <a:schemeClr val="accent1"/>
          </a:effectRef>
          <a:fontRef idx="minor">
            <a:schemeClr val="lt1"/>
          </a:fontRef>
        </p:style>
        <p:txBody>
          <a:bodyPr rtlCol="0" anchor="ctr"/>
          <a:lstStyle/>
          <a:p>
            <a:pPr>
              <a:defRPr sz="1800" b="1">
                <a:solidFill>
                  <a:srgbClr val="FFFFFF"/>
                </a:solidFill>
              </a:defRPr>
            </a:pPr>
            <a:r>
              <a:t>Software Security</a:t>
            </a:r>
          </a:p>
        </p:txBody>
      </p:sp>
      <p:sp>
        <p:nvSpPr>
          <p:cNvPr id="6" name="TextBox 5"/>
          <p:cNvSpPr txBox="1"/>
          <p:nvPr/>
        </p:nvSpPr>
        <p:spPr>
          <a:xfrm>
            <a:off x="457200" y="5045508"/>
            <a:ext cx="8032584" cy="1823576"/>
          </a:xfrm>
          <a:prstGeom prst="rect">
            <a:avLst/>
          </a:prstGeom>
          <a:noFill/>
        </p:spPr>
        <p:txBody>
          <a:bodyPr wrap="none">
            <a:spAutoFit/>
          </a:bodyPr>
          <a:lstStyle/>
          <a:p>
            <a:endParaRPr sz="2000" dirty="0"/>
          </a:p>
          <a:p>
            <a:pPr>
              <a:spcAft>
                <a:spcPts val="500"/>
              </a:spcAft>
              <a:defRPr sz="1600"/>
            </a:pPr>
            <a:r>
              <a:rPr sz="2000" dirty="0"/>
              <a:t>A way to defend against software exploits by building software to be secure</a:t>
            </a:r>
          </a:p>
          <a:p>
            <a:pPr lvl="1">
              <a:spcAft>
                <a:spcPts val="500"/>
              </a:spcAft>
              <a:defRPr sz="1600"/>
            </a:pPr>
            <a:r>
              <a:rPr sz="2000" dirty="0"/>
              <a:t>Holistic long</a:t>
            </a:r>
            <a:r>
              <a:rPr lang="en-US" sz="2000" dirty="0"/>
              <a:t>-</a:t>
            </a:r>
            <a:r>
              <a:rPr sz="2000" dirty="0"/>
              <a:t>term approach</a:t>
            </a:r>
          </a:p>
          <a:p>
            <a:pPr lvl="1">
              <a:spcAft>
                <a:spcPts val="500"/>
              </a:spcAft>
              <a:defRPr sz="1600"/>
            </a:pPr>
            <a:r>
              <a:rPr sz="2000" dirty="0"/>
              <a:t>Root Cause Analysis</a:t>
            </a:r>
          </a:p>
          <a:p>
            <a:pPr lvl="1">
              <a:spcAft>
                <a:spcPts val="500"/>
              </a:spcAft>
              <a:defRPr sz="1600"/>
            </a:pPr>
            <a:r>
              <a:rPr sz="2000" dirty="0"/>
              <a:t>Organizational Change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8B48A-0411-A234-A48A-D5D0D2529006}"/>
              </a:ext>
            </a:extLst>
          </p:cNvPr>
          <p:cNvSpPr>
            <a:spLocks noGrp="1"/>
          </p:cNvSpPr>
          <p:nvPr>
            <p:ph type="title"/>
          </p:nvPr>
        </p:nvSpPr>
        <p:spPr/>
        <p:txBody>
          <a:bodyPr>
            <a:normAutofit fontScale="90000"/>
          </a:bodyPr>
          <a:lstStyle/>
          <a:p>
            <a:r>
              <a:rPr lang="en-US" dirty="0"/>
              <a:t>Software security vs Application security</a:t>
            </a:r>
          </a:p>
        </p:txBody>
      </p:sp>
      <p:sp>
        <p:nvSpPr>
          <p:cNvPr id="3" name="Content Placeholder 2">
            <a:extLst>
              <a:ext uri="{FF2B5EF4-FFF2-40B4-BE49-F238E27FC236}">
                <a16:creationId xmlns:a16="http://schemas.microsoft.com/office/drawing/2014/main" id="{065D543F-0B99-3A22-7475-94DE6917E0F0}"/>
              </a:ext>
            </a:extLst>
          </p:cNvPr>
          <p:cNvSpPr>
            <a:spLocks noGrp="1"/>
          </p:cNvSpPr>
          <p:nvPr>
            <p:ph idx="1"/>
          </p:nvPr>
        </p:nvSpPr>
        <p:spPr/>
        <p:txBody>
          <a:bodyPr/>
          <a:lstStyle/>
          <a:p>
            <a:r>
              <a:rPr lang="en-US" dirty="0"/>
              <a:t>Software security – Broader scope, OS/Middleware/Applications</a:t>
            </a:r>
          </a:p>
          <a:p>
            <a:r>
              <a:rPr lang="en-US" dirty="0"/>
              <a:t>Application security – Narrower scope, Applications (web/mobile)</a:t>
            </a:r>
          </a:p>
        </p:txBody>
      </p:sp>
    </p:spTree>
    <p:extLst>
      <p:ext uri="{BB962C8B-B14F-4D97-AF65-F5344CB8AC3E}">
        <p14:creationId xmlns:p14="http://schemas.microsoft.com/office/powerpoint/2010/main" val="4161864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Common</a:t>
            </a:r>
            <a:r>
              <a:rPr dirty="0"/>
              <a:t> Practices in Application Security</a:t>
            </a:r>
          </a:p>
        </p:txBody>
      </p:sp>
      <p:sp>
        <p:nvSpPr>
          <p:cNvPr id="3" name="Content Placeholder 2"/>
          <p:cNvSpPr>
            <a:spLocks noGrp="1"/>
          </p:cNvSpPr>
          <p:nvPr>
            <p:ph idx="1"/>
          </p:nvPr>
        </p:nvSpPr>
        <p:spPr>
          <a:xfrm>
            <a:off x="381000" y="1166018"/>
            <a:ext cx="8229600" cy="4525963"/>
          </a:xfrm>
        </p:spPr>
        <p:txBody>
          <a:bodyPr>
            <a:noAutofit/>
          </a:bodyPr>
          <a:lstStyle/>
          <a:p>
            <a:endParaRPr sz="2400" dirty="0"/>
          </a:p>
          <a:p>
            <a:pPr>
              <a:spcAft>
                <a:spcPts val="720"/>
              </a:spcAft>
              <a:defRPr sz="1800" b="1">
                <a:solidFill>
                  <a:srgbClr val="000000"/>
                </a:solidFill>
              </a:defRPr>
            </a:pPr>
            <a:r>
              <a:rPr sz="2400" dirty="0"/>
              <a:t>Do a Security Assessment once development is finished</a:t>
            </a:r>
          </a:p>
          <a:p>
            <a:pPr>
              <a:spcAft>
                <a:spcPts val="720"/>
              </a:spcAft>
              <a:defRPr sz="1800" b="1">
                <a:solidFill>
                  <a:srgbClr val="000000"/>
                </a:solidFill>
              </a:defRPr>
            </a:pPr>
            <a:r>
              <a:rPr sz="2400" dirty="0"/>
              <a:t>Yearly Penetration Tests and Vulnerability Assessments.</a:t>
            </a:r>
          </a:p>
          <a:p>
            <a:pPr lvl="1">
              <a:spcAft>
                <a:spcPts val="720"/>
              </a:spcAft>
              <a:defRPr sz="1800" b="0">
                <a:solidFill>
                  <a:srgbClr val="000000"/>
                </a:solidFill>
              </a:defRPr>
            </a:pPr>
            <a:r>
              <a:rPr sz="2400" dirty="0"/>
              <a:t>  Mainly just to comply with standards.</a:t>
            </a:r>
          </a:p>
          <a:p>
            <a:pPr>
              <a:spcAft>
                <a:spcPts val="720"/>
              </a:spcAft>
              <a:defRPr sz="1800" b="1">
                <a:solidFill>
                  <a:srgbClr val="000000"/>
                </a:solidFill>
              </a:defRPr>
            </a:pPr>
            <a:r>
              <a:rPr sz="2400" dirty="0"/>
              <a:t>Vulnerability Assessment</a:t>
            </a:r>
          </a:p>
          <a:p>
            <a:pPr lvl="1">
              <a:spcAft>
                <a:spcPts val="720"/>
              </a:spcAft>
              <a:defRPr sz="1800" b="0">
                <a:solidFill>
                  <a:srgbClr val="000000"/>
                </a:solidFill>
              </a:defRPr>
            </a:pPr>
            <a:r>
              <a:rPr sz="2400" dirty="0"/>
              <a:t>  - The process of identifying and quantifying vulnerabilities in an environment</a:t>
            </a:r>
          </a:p>
          <a:p>
            <a:pPr>
              <a:spcAft>
                <a:spcPts val="720"/>
              </a:spcAft>
              <a:defRPr sz="1800" b="1">
                <a:solidFill>
                  <a:srgbClr val="000000"/>
                </a:solidFill>
              </a:defRPr>
            </a:pPr>
            <a:r>
              <a:rPr sz="2400" dirty="0"/>
              <a:t>Penetration Test</a:t>
            </a:r>
          </a:p>
          <a:p>
            <a:pPr lvl="1">
              <a:spcAft>
                <a:spcPts val="720"/>
              </a:spcAft>
              <a:defRPr sz="1800" b="0">
                <a:solidFill>
                  <a:srgbClr val="000000"/>
                </a:solidFill>
              </a:defRPr>
            </a:pPr>
            <a:r>
              <a:rPr sz="2400" dirty="0"/>
              <a:t>  - Simulates the actions of an external and/or internal attacker</a:t>
            </a:r>
          </a:p>
          <a:p>
            <a:pPr lvl="1">
              <a:spcAft>
                <a:spcPts val="720"/>
              </a:spcAft>
              <a:defRPr sz="1800" b="0">
                <a:solidFill>
                  <a:srgbClr val="000000"/>
                </a:solidFill>
              </a:defRPr>
            </a:pPr>
            <a:r>
              <a:rPr sz="2400" dirty="0"/>
              <a:t>  - Aims to breach the security of the organization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0"/>
            <a:ext cx="8229600" cy="5257800"/>
          </a:xfrm>
        </p:spPr>
        <p:txBody>
          <a:bodyPr>
            <a:normAutofit fontScale="47500" lnSpcReduction="20000"/>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hlinkClick r:id="rId3"/>
            </a:endParaRPr>
          </a:p>
          <a:p>
            <a:endParaRPr lang="en-US" dirty="0">
              <a:hlinkClick r:id="rId3"/>
            </a:endParaRPr>
          </a:p>
          <a:p>
            <a:endParaRPr lang="en-US" dirty="0">
              <a:hlinkClick r:id="rId3"/>
            </a:endParaRPr>
          </a:p>
          <a:p>
            <a:r>
              <a:rPr lang="en-US" dirty="0">
                <a:hlinkClick r:id="rId3"/>
              </a:rPr>
              <a:t>https://bgr.com/2016/03/16/jennifer-lawrence-nudes-icloud-hack/</a:t>
            </a:r>
            <a:endParaRPr lang="en-US" dirty="0"/>
          </a:p>
          <a:p>
            <a:r>
              <a:rPr lang="en-US" dirty="0">
                <a:hlinkClick r:id="rId4"/>
              </a:rPr>
              <a:t>https://www.theguardian.com/technology/2018/sep/28/facebook-50-million-user-accounts-security-berach</a:t>
            </a:r>
            <a:endParaRPr lang="en-US" dirty="0"/>
          </a:p>
          <a:p>
            <a:r>
              <a:rPr lang="en-GB" dirty="0">
                <a:hlinkClick r:id="rId5"/>
              </a:rPr>
              <a:t>https://www.zdnet.com/article/facebook-could-face-billions-in-fines-under-gdpr-over-latest-data-breach/</a:t>
            </a:r>
            <a:endParaRPr lang="en-GB" dirty="0"/>
          </a:p>
          <a:p>
            <a:r>
              <a:rPr lang="en-US" dirty="0">
                <a:hlinkClick r:id="rId6"/>
              </a:rPr>
              <a:t>https://www.crn.com/news/security/10-major-cyberattacks-and-data-breaches-in-2023</a:t>
            </a:r>
            <a:endParaRPr lang="en-US" dirty="0"/>
          </a:p>
          <a:p>
            <a:r>
              <a:rPr lang="en-US" dirty="0">
                <a:hlinkClick r:id="rId7"/>
              </a:rPr>
              <a:t>https://www.csoonline.com/article/562691/stuxnet-explained-the-first-known-cyberweapon.html</a:t>
            </a:r>
            <a:endParaRPr lang="en-US" dirty="0"/>
          </a:p>
          <a:p>
            <a:r>
              <a:rPr lang="en-US" dirty="0">
                <a:hlinkClick r:id="rId8"/>
              </a:rPr>
              <a:t>https://en.wikipedia.org/wiki/Stuxnet</a:t>
            </a:r>
            <a:endParaRPr lang="en-US" dirty="0"/>
          </a:p>
          <a:p>
            <a:pPr marL="0" indent="0">
              <a:buNone/>
            </a:pPr>
            <a:endParaRPr lang="en-US" dirty="0"/>
          </a:p>
          <a:p>
            <a:pPr marL="0" indent="0">
              <a:buNone/>
            </a:pPr>
            <a:endParaRPr lang="en-US" dirty="0"/>
          </a:p>
          <a:p>
            <a:endParaRPr lang="en-US" dirty="0"/>
          </a:p>
          <a:p>
            <a:endParaRPr lang="en-US" dirty="0"/>
          </a:p>
          <a:p>
            <a:endParaRPr lang="en-US" dirty="0"/>
          </a:p>
          <a:p>
            <a:endParaRPr lang="en-US" dirty="0"/>
          </a:p>
        </p:txBody>
      </p:sp>
      <p:pic>
        <p:nvPicPr>
          <p:cNvPr id="5122" name="Picture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1000" y="152400"/>
            <a:ext cx="8593534" cy="4495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435506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Issues with security breaches</a:t>
            </a:r>
          </a:p>
        </p:txBody>
      </p:sp>
      <p:sp>
        <p:nvSpPr>
          <p:cNvPr id="3" name="Content Placeholder 2"/>
          <p:cNvSpPr>
            <a:spLocks noGrp="1"/>
          </p:cNvSpPr>
          <p:nvPr>
            <p:ph idx="1"/>
          </p:nvPr>
        </p:nvSpPr>
        <p:spPr/>
        <p:txBody>
          <a:bodyPr/>
          <a:lstStyle/>
          <a:p>
            <a:r>
              <a:rPr lang="en-US" dirty="0"/>
              <a:t>Immediate financial loss</a:t>
            </a:r>
          </a:p>
          <a:p>
            <a:r>
              <a:rPr lang="en-US" dirty="0"/>
              <a:t>Reputation</a:t>
            </a:r>
          </a:p>
          <a:p>
            <a:r>
              <a:rPr lang="en-US" dirty="0"/>
              <a:t>Lawsuits</a:t>
            </a:r>
          </a:p>
          <a:p>
            <a:r>
              <a:rPr lang="en-US" dirty="0"/>
              <a:t>Regulatory penalties (e.g., GDPR fines).</a:t>
            </a:r>
          </a:p>
          <a:p>
            <a:r>
              <a:rPr lang="en-US" dirty="0"/>
              <a:t>National security issues</a:t>
            </a:r>
          </a:p>
          <a:p>
            <a:r>
              <a:rPr lang="en-US" dirty="0"/>
              <a:t>Discussion: Can security be quantified?</a:t>
            </a:r>
          </a:p>
          <a:p>
            <a:pPr marL="0" indent="0">
              <a:buNone/>
            </a:pPr>
            <a:endParaRPr lang="en-US" dirty="0"/>
          </a:p>
        </p:txBody>
      </p:sp>
    </p:spTree>
    <p:extLst>
      <p:ext uri="{BB962C8B-B14F-4D97-AF65-F5344CB8AC3E}">
        <p14:creationId xmlns:p14="http://schemas.microsoft.com/office/powerpoint/2010/main" val="866749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381000"/>
            <a:ext cx="8503180" cy="5257800"/>
          </a:xfrm>
        </p:spPr>
      </p:pic>
      <p:sp>
        <p:nvSpPr>
          <p:cNvPr id="5" name="TextBox 4"/>
          <p:cNvSpPr txBox="1"/>
          <p:nvPr/>
        </p:nvSpPr>
        <p:spPr>
          <a:xfrm>
            <a:off x="1066800" y="5943600"/>
            <a:ext cx="6629400" cy="523220"/>
          </a:xfrm>
          <a:prstGeom prst="rect">
            <a:avLst/>
          </a:prstGeom>
          <a:noFill/>
        </p:spPr>
        <p:txBody>
          <a:bodyPr wrap="square" rtlCol="0">
            <a:spAutoFit/>
          </a:bodyPr>
          <a:lstStyle/>
          <a:p>
            <a:r>
              <a:rPr lang="en-US" sz="2800" dirty="0"/>
              <a:t>Source : NIST 2011</a:t>
            </a:r>
          </a:p>
        </p:txBody>
      </p:sp>
    </p:spTree>
    <p:extLst>
      <p:ext uri="{BB962C8B-B14F-4D97-AF65-F5344CB8AC3E}">
        <p14:creationId xmlns:p14="http://schemas.microsoft.com/office/powerpoint/2010/main" val="28079592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Cost of fixing bugs</a:t>
            </a:r>
          </a:p>
        </p:txBody>
      </p:sp>
      <p:sp>
        <p:nvSpPr>
          <p:cNvPr id="3" name="Content Placeholder 2"/>
          <p:cNvSpPr>
            <a:spLocks noGrp="1"/>
          </p:cNvSpPr>
          <p:nvPr>
            <p:ph idx="1"/>
          </p:nvPr>
        </p:nvSpPr>
        <p:spPr/>
        <p:txBody>
          <a:bodyPr>
            <a:normAutofit/>
          </a:bodyPr>
          <a:lstStyle/>
          <a:p>
            <a:endParaRPr lang="en-US" dirty="0">
              <a:hlinkClick r:id="rId3"/>
            </a:endParaRPr>
          </a:p>
          <a:p>
            <a:endParaRPr lang="en-US" dirty="0">
              <a:hlinkClick r:id="rId3"/>
            </a:endParaRPr>
          </a:p>
          <a:p>
            <a:endParaRPr lang="en-US" dirty="0">
              <a:hlinkClick r:id="rId3"/>
            </a:endParaRPr>
          </a:p>
          <a:p>
            <a:endParaRPr lang="en-US" dirty="0">
              <a:hlinkClick r:id="rId3"/>
            </a:endParaRPr>
          </a:p>
          <a:p>
            <a:endParaRPr lang="en-US" dirty="0">
              <a:hlinkClick r:id="rId3"/>
            </a:endParaRPr>
          </a:p>
          <a:p>
            <a:endParaRPr lang="en-US" dirty="0">
              <a:hlinkClick r:id="rId3"/>
            </a:endParaRPr>
          </a:p>
          <a:p>
            <a:endParaRPr lang="en-US" dirty="0">
              <a:hlinkClick r:id="rId3"/>
            </a:endParaRPr>
          </a:p>
          <a:p>
            <a:endParaRPr lang="en-US" dirty="0"/>
          </a:p>
        </p:txBody>
      </p:sp>
      <p:pic>
        <p:nvPicPr>
          <p:cNvPr id="1126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1156291"/>
            <a:ext cx="7772400" cy="40669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1524000" y="5486400"/>
            <a:ext cx="6477000" cy="1569660"/>
          </a:xfrm>
          <a:prstGeom prst="rect">
            <a:avLst/>
          </a:prstGeom>
          <a:noFill/>
        </p:spPr>
        <p:txBody>
          <a:bodyPr wrap="square" rtlCol="0">
            <a:spAutoFit/>
          </a:bodyPr>
          <a:lstStyle/>
          <a:p>
            <a:r>
              <a:rPr lang="en-US" sz="2400" dirty="0"/>
              <a:t>Applied Software Measurement, Capers Jones, 1996   https://espincorp.wordpress.com/tag/cost-to-fix-bugs/</a:t>
            </a:r>
          </a:p>
          <a:p>
            <a:endParaRPr lang="en-US" sz="2400" dirty="0"/>
          </a:p>
        </p:txBody>
      </p:sp>
    </p:spTree>
    <p:extLst>
      <p:ext uri="{BB962C8B-B14F-4D97-AF65-F5344CB8AC3E}">
        <p14:creationId xmlns:p14="http://schemas.microsoft.com/office/powerpoint/2010/main" val="10645782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Why application security is not good enough?</a:t>
            </a:r>
          </a:p>
        </p:txBody>
      </p:sp>
      <p:sp>
        <p:nvSpPr>
          <p:cNvPr id="3" name="Content Placeholder 2"/>
          <p:cNvSpPr>
            <a:spLocks noGrp="1"/>
          </p:cNvSpPr>
          <p:nvPr>
            <p:ph idx="1"/>
          </p:nvPr>
        </p:nvSpPr>
        <p:spPr/>
        <p:txBody>
          <a:bodyPr/>
          <a:lstStyle/>
          <a:p>
            <a:r>
              <a:rPr lang="en-US" dirty="0"/>
              <a:t>Applying and managing security patches may be costly</a:t>
            </a:r>
          </a:p>
          <a:p>
            <a:r>
              <a:rPr lang="en-US" dirty="0"/>
              <a:t>0-day vulnerabilities</a:t>
            </a:r>
          </a:p>
          <a:p>
            <a:r>
              <a:rPr lang="en-US" dirty="0"/>
              <a:t>Patches may not fix the cause</a:t>
            </a:r>
          </a:p>
          <a:p>
            <a:r>
              <a:rPr lang="en-US" dirty="0"/>
              <a:t>Firewalls and IDSs may not be sufficient </a:t>
            </a:r>
          </a:p>
          <a:p>
            <a:r>
              <a:rPr lang="en-US" dirty="0"/>
              <a:t>Build security in!</a:t>
            </a:r>
          </a:p>
        </p:txBody>
      </p:sp>
    </p:spTree>
    <p:extLst>
      <p:ext uri="{BB962C8B-B14F-4D97-AF65-F5344CB8AC3E}">
        <p14:creationId xmlns:p14="http://schemas.microsoft.com/office/powerpoint/2010/main" val="3315146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Build Security In</a:t>
            </a:r>
          </a:p>
        </p:txBody>
      </p:sp>
      <p:sp>
        <p:nvSpPr>
          <p:cNvPr id="3" name="TextBox 2"/>
          <p:cNvSpPr txBox="1"/>
          <p:nvPr/>
        </p:nvSpPr>
        <p:spPr>
          <a:xfrm>
            <a:off x="457200" y="1371600"/>
            <a:ext cx="7772400" cy="5262979"/>
          </a:xfrm>
          <a:prstGeom prst="rect">
            <a:avLst/>
          </a:prstGeom>
          <a:noFill/>
        </p:spPr>
        <p:txBody>
          <a:bodyPr wrap="square">
            <a:spAutoFit/>
          </a:bodyPr>
          <a:lstStyle/>
          <a:p>
            <a:endParaRPr sz="2400" dirty="0"/>
          </a:p>
          <a:p>
            <a:pPr>
              <a:defRPr sz="1600"/>
            </a:pPr>
            <a:r>
              <a:rPr lang="en-US" sz="2400" dirty="0"/>
              <a:t>"</a:t>
            </a:r>
            <a:r>
              <a:rPr sz="2400" dirty="0"/>
              <a:t>Organizations that have focused on security in the early stages have seen major reductions in operational vulnerabilities, resulting in reductions in software patching. Our research from one case study showed that the cost to fix requirement problems identified later in the project cost close to $2.5 million; the cost to fix these problems early in the lifecycle was $0.5 million. In addition, Microsoft's own data show that when security was considered throughout the Windows Vista development lifecycle, vulnerabilities were reduced by 45%</a:t>
            </a:r>
            <a:r>
              <a:rPr lang="en-US" sz="2400" dirty="0"/>
              <a:t>"</a:t>
            </a:r>
          </a:p>
          <a:p>
            <a:pPr>
              <a:defRPr sz="1600"/>
            </a:pPr>
            <a:endParaRPr sz="2400" dirty="0"/>
          </a:p>
          <a:p>
            <a:pPr>
              <a:defRPr sz="1400">
                <a:solidFill>
                  <a:srgbClr val="0000FF"/>
                </a:solidFill>
              </a:defRPr>
            </a:pPr>
            <a:r>
              <a:rPr sz="2400" dirty="0"/>
              <a:t>Refer: </a:t>
            </a:r>
            <a:r>
              <a:rPr sz="2400" dirty="0">
                <a:hlinkClick r:id="rId2"/>
              </a:rPr>
              <a:t>http://www.cert.org/cybersecurity</a:t>
            </a:r>
            <a:r>
              <a:rPr lang="en-US" sz="2400" dirty="0">
                <a:hlinkClick r:id="rId2"/>
              </a:rPr>
              <a:t>-</a:t>
            </a:r>
            <a:r>
              <a:rPr sz="2400" dirty="0">
                <a:hlinkClick r:id="rId2"/>
              </a:rPr>
              <a:t>engineering/index.cfm#swamodel</a:t>
            </a:r>
            <a:endParaRPr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Secure Software Development Lifecycle (S-SDLC)</a:t>
            </a:r>
          </a:p>
        </p:txBody>
      </p:sp>
      <p:sp>
        <p:nvSpPr>
          <p:cNvPr id="3" name="Content Placeholder 2"/>
          <p:cNvSpPr>
            <a:spLocks noGrp="1"/>
          </p:cNvSpPr>
          <p:nvPr>
            <p:ph idx="1"/>
          </p:nvPr>
        </p:nvSpPr>
        <p:spPr/>
        <p:txBody>
          <a:bodyPr/>
          <a:lstStyle/>
          <a:p>
            <a:r>
              <a:rPr lang="en-US" dirty="0"/>
              <a:t>Make security a mandatory part in every phase of software development </a:t>
            </a:r>
          </a:p>
        </p:txBody>
      </p:sp>
    </p:spTree>
    <p:extLst>
      <p:ext uri="{BB962C8B-B14F-4D97-AF65-F5344CB8AC3E}">
        <p14:creationId xmlns:p14="http://schemas.microsoft.com/office/powerpoint/2010/main" val="31116606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Secure Software Development Lifecycle (SDLC)</a:t>
            </a:r>
          </a:p>
        </p:txBody>
      </p:sp>
      <p:sp>
        <p:nvSpPr>
          <p:cNvPr id="3" name="Content Placeholder 2"/>
          <p:cNvSpPr>
            <a:spLocks noGrp="1"/>
          </p:cNvSpPr>
          <p:nvPr>
            <p:ph idx="1"/>
          </p:nvPr>
        </p:nvSpPr>
        <p:spPr/>
        <p:txBody>
          <a:bodyPr>
            <a:normAutofit/>
          </a:bodyPr>
          <a:lstStyle/>
          <a:p>
            <a:r>
              <a:rPr dirty="0"/>
              <a:t>Integration of security in every phase of SDLC:</a:t>
            </a:r>
          </a:p>
          <a:p>
            <a:r>
              <a:rPr dirty="0"/>
              <a:t>Requirements</a:t>
            </a:r>
          </a:p>
          <a:p>
            <a:r>
              <a:rPr dirty="0"/>
              <a:t>Design</a:t>
            </a:r>
          </a:p>
          <a:p>
            <a:r>
              <a:rPr dirty="0"/>
              <a:t>Implementation</a:t>
            </a:r>
          </a:p>
          <a:p>
            <a:r>
              <a:rPr dirty="0"/>
              <a:t>Testing</a:t>
            </a:r>
          </a:p>
          <a:p>
            <a:r>
              <a:rPr dirty="0"/>
              <a:t>Deployment</a:t>
            </a:r>
          </a:p>
          <a:p>
            <a:r>
              <a:rPr dirty="0"/>
              <a:t>Maintenance</a:t>
            </a:r>
          </a:p>
        </p:txBody>
      </p:sp>
    </p:spTree>
    <p:extLst>
      <p:ext uri="{BB962C8B-B14F-4D97-AF65-F5344CB8AC3E}">
        <p14:creationId xmlns:p14="http://schemas.microsoft.com/office/powerpoint/2010/main" val="21236399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Secure Software Development Lifecycle (S-SDLC)</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46158" y="1600200"/>
            <a:ext cx="4651684" cy="4525963"/>
          </a:xfrm>
        </p:spPr>
      </p:pic>
      <p:sp>
        <p:nvSpPr>
          <p:cNvPr id="5" name="Rectangle 4"/>
          <p:cNvSpPr/>
          <p:nvPr/>
        </p:nvSpPr>
        <p:spPr>
          <a:xfrm>
            <a:off x="457200" y="6211669"/>
            <a:ext cx="8458200" cy="369332"/>
          </a:xfrm>
          <a:prstGeom prst="rect">
            <a:avLst/>
          </a:prstGeom>
        </p:spPr>
        <p:txBody>
          <a:bodyPr wrap="square">
            <a:spAutoFit/>
          </a:bodyPr>
          <a:lstStyle/>
          <a:p>
            <a:r>
              <a:rPr lang="en-US" dirty="0">
                <a:hlinkClick r:id="rId3"/>
              </a:rPr>
              <a:t>https://resources.infosecinstitute.com/intro-secure-software-development-life-cycle/</a:t>
            </a:r>
            <a:endParaRPr lang="en-US" dirty="0"/>
          </a:p>
        </p:txBody>
      </p:sp>
    </p:spTree>
    <p:extLst>
      <p:ext uri="{BB962C8B-B14F-4D97-AF65-F5344CB8AC3E}">
        <p14:creationId xmlns:p14="http://schemas.microsoft.com/office/powerpoint/2010/main" val="40395918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Threat Modeling Basics</a:t>
            </a:r>
          </a:p>
        </p:txBody>
      </p:sp>
      <p:sp>
        <p:nvSpPr>
          <p:cNvPr id="3" name="Content Placeholder 2"/>
          <p:cNvSpPr>
            <a:spLocks noGrp="1"/>
          </p:cNvSpPr>
          <p:nvPr>
            <p:ph idx="1"/>
          </p:nvPr>
        </p:nvSpPr>
        <p:spPr/>
        <p:txBody>
          <a:bodyPr/>
          <a:lstStyle/>
          <a:p>
            <a:r>
              <a:rPr dirty="0"/>
              <a:t>Definition: Identifying and prioritizing potential threats.</a:t>
            </a:r>
          </a:p>
          <a:p>
            <a:r>
              <a:rPr dirty="0"/>
              <a:t>Frameworks: STRIDE, DREAD.</a:t>
            </a:r>
          </a:p>
          <a:p>
            <a:r>
              <a:rPr dirty="0"/>
              <a:t>Example: Modeling threats for a banking application.</a:t>
            </a:r>
          </a:p>
        </p:txBody>
      </p:sp>
    </p:spTree>
    <p:extLst>
      <p:ext uri="{BB962C8B-B14F-4D97-AF65-F5344CB8AC3E}">
        <p14:creationId xmlns:p14="http://schemas.microsoft.com/office/powerpoint/2010/main" val="3547323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Secure Coding Practices</a:t>
            </a:r>
          </a:p>
        </p:txBody>
      </p:sp>
      <p:sp>
        <p:nvSpPr>
          <p:cNvPr id="3" name="Content Placeholder 2"/>
          <p:cNvSpPr>
            <a:spLocks noGrp="1"/>
          </p:cNvSpPr>
          <p:nvPr>
            <p:ph idx="1"/>
          </p:nvPr>
        </p:nvSpPr>
        <p:spPr/>
        <p:txBody>
          <a:bodyPr/>
          <a:lstStyle/>
          <a:p>
            <a:r>
              <a:rPr dirty="0"/>
              <a:t>Avoid hardcoding sensitive information.</a:t>
            </a:r>
          </a:p>
          <a:p>
            <a:r>
              <a:rPr dirty="0"/>
              <a:t>Validate input data.</a:t>
            </a:r>
          </a:p>
          <a:p>
            <a:r>
              <a:rPr dirty="0"/>
              <a:t>Use parameterized queries to prevent SQL injection.</a:t>
            </a:r>
          </a:p>
          <a:p>
            <a:r>
              <a:rPr dirty="0"/>
              <a:t>Regularly update dependencies and libraries.</a:t>
            </a:r>
          </a:p>
        </p:txBody>
      </p:sp>
    </p:spTree>
    <p:extLst>
      <p:ext uri="{BB962C8B-B14F-4D97-AF65-F5344CB8AC3E}">
        <p14:creationId xmlns:p14="http://schemas.microsoft.com/office/powerpoint/2010/main" val="1045642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Vulnerability Management</a:t>
            </a:r>
          </a:p>
        </p:txBody>
      </p:sp>
      <p:sp>
        <p:nvSpPr>
          <p:cNvPr id="3" name="Content Placeholder 2"/>
          <p:cNvSpPr>
            <a:spLocks noGrp="1"/>
          </p:cNvSpPr>
          <p:nvPr>
            <p:ph idx="1"/>
          </p:nvPr>
        </p:nvSpPr>
        <p:spPr/>
        <p:txBody>
          <a:bodyPr/>
          <a:lstStyle/>
          <a:p>
            <a:r>
              <a:rPr dirty="0"/>
              <a:t>Tools for vulnerability scanning (e.g., Nessus, OWASP ZAP).</a:t>
            </a:r>
          </a:p>
          <a:p>
            <a:r>
              <a:rPr dirty="0"/>
              <a:t>Patch management practices.</a:t>
            </a:r>
          </a:p>
          <a:p>
            <a:r>
              <a:rPr dirty="0"/>
              <a:t>Importance of security audits.</a:t>
            </a:r>
          </a:p>
        </p:txBody>
      </p:sp>
    </p:spTree>
    <p:extLst>
      <p:ext uri="{BB962C8B-B14F-4D97-AF65-F5344CB8AC3E}">
        <p14:creationId xmlns:p14="http://schemas.microsoft.com/office/powerpoint/2010/main" val="385911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Importance of Security Testing</a:t>
            </a:r>
          </a:p>
        </p:txBody>
      </p:sp>
      <p:sp>
        <p:nvSpPr>
          <p:cNvPr id="3" name="Content Placeholder 2"/>
          <p:cNvSpPr>
            <a:spLocks noGrp="1"/>
          </p:cNvSpPr>
          <p:nvPr>
            <p:ph idx="1"/>
          </p:nvPr>
        </p:nvSpPr>
        <p:spPr/>
        <p:txBody>
          <a:bodyPr/>
          <a:lstStyle/>
          <a:p>
            <a:pPr marL="0" indent="0">
              <a:buNone/>
            </a:pPr>
            <a:r>
              <a:rPr dirty="0"/>
              <a:t>Types:</a:t>
            </a:r>
          </a:p>
          <a:p>
            <a:r>
              <a:rPr dirty="0"/>
              <a:t> Static Application Security Testing (SAST).</a:t>
            </a:r>
          </a:p>
          <a:p>
            <a:r>
              <a:rPr dirty="0"/>
              <a:t> Dynamic Application Security Testing (DAST).</a:t>
            </a:r>
          </a:p>
          <a:p>
            <a:r>
              <a:rPr dirty="0"/>
              <a:t> Interactive Application Security Testing (IAST).</a:t>
            </a:r>
          </a:p>
          <a:p>
            <a:r>
              <a:rPr lang="en-US" dirty="0"/>
              <a:t> </a:t>
            </a:r>
            <a:r>
              <a:rPr dirty="0"/>
              <a:t>Automated vs. Manual Testing.</a:t>
            </a:r>
          </a:p>
        </p:txBody>
      </p:sp>
    </p:spTree>
    <p:extLst>
      <p:ext uri="{BB962C8B-B14F-4D97-AF65-F5344CB8AC3E}">
        <p14:creationId xmlns:p14="http://schemas.microsoft.com/office/powerpoint/2010/main" val="1834196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implement a S-SDLC</a:t>
            </a:r>
          </a:p>
        </p:txBody>
      </p:sp>
      <p:sp>
        <p:nvSpPr>
          <p:cNvPr id="3" name="Content Placeholder 2"/>
          <p:cNvSpPr>
            <a:spLocks noGrp="1"/>
          </p:cNvSpPr>
          <p:nvPr>
            <p:ph idx="1"/>
          </p:nvPr>
        </p:nvSpPr>
        <p:spPr/>
        <p:txBody>
          <a:bodyPr/>
          <a:lstStyle/>
          <a:p>
            <a:r>
              <a:rPr lang="en-US" dirty="0"/>
              <a:t>Security policies and procedures</a:t>
            </a:r>
          </a:p>
          <a:p>
            <a:r>
              <a:rPr lang="en-US" dirty="0"/>
              <a:t>Get the support of all project stakeholders</a:t>
            </a:r>
          </a:p>
          <a:p>
            <a:r>
              <a:rPr lang="en-US" dirty="0"/>
              <a:t>Proper incident management policies</a:t>
            </a:r>
          </a:p>
          <a:p>
            <a:pPr marL="0" indent="0">
              <a:buNone/>
            </a:pPr>
            <a:r>
              <a:rPr lang="en-US" dirty="0"/>
              <a:t>        - From Senior Management to the users</a:t>
            </a:r>
          </a:p>
          <a:p>
            <a:r>
              <a:rPr lang="en-US" dirty="0"/>
              <a:t>User training</a:t>
            </a:r>
          </a:p>
          <a:p>
            <a:pPr marL="0" indent="0">
              <a:buNone/>
            </a:pPr>
            <a:endParaRPr lang="en-US" dirty="0"/>
          </a:p>
        </p:txBody>
      </p:sp>
    </p:spTree>
    <p:extLst>
      <p:ext uri="{BB962C8B-B14F-4D97-AF65-F5344CB8AC3E}">
        <p14:creationId xmlns:p14="http://schemas.microsoft.com/office/powerpoint/2010/main" val="4076462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How to Implement a S-SDLC</a:t>
            </a:r>
            <a:r>
              <a:rPr lang="en-US" dirty="0"/>
              <a:t>…</a:t>
            </a:r>
            <a:endParaRPr dirty="0"/>
          </a:p>
        </p:txBody>
      </p:sp>
      <p:sp>
        <p:nvSpPr>
          <p:cNvPr id="3" name="Content Placeholder 2"/>
          <p:cNvSpPr>
            <a:spLocks noGrp="1"/>
          </p:cNvSpPr>
          <p:nvPr>
            <p:ph idx="1"/>
          </p:nvPr>
        </p:nvSpPr>
        <p:spPr>
          <a:xfrm>
            <a:off x="443345" y="1600200"/>
            <a:ext cx="8229600" cy="4525963"/>
          </a:xfrm>
        </p:spPr>
        <p:txBody>
          <a:bodyPr>
            <a:noAutofit/>
          </a:bodyPr>
          <a:lstStyle/>
          <a:p>
            <a:endParaRPr sz="2400" dirty="0"/>
          </a:p>
          <a:p>
            <a:pPr>
              <a:spcAft>
                <a:spcPts val="500"/>
              </a:spcAft>
              <a:defRPr sz="1800"/>
            </a:pPr>
            <a:r>
              <a:rPr sz="2400" dirty="0"/>
              <a:t>Focus attention on architecture as much as on bugs</a:t>
            </a:r>
          </a:p>
          <a:p>
            <a:pPr>
              <a:spcAft>
                <a:spcPts val="500"/>
              </a:spcAft>
              <a:defRPr sz="1800"/>
            </a:pPr>
            <a:r>
              <a:rPr sz="2400" dirty="0"/>
              <a:t>Provide Security training for everyone who are directly involved in SDLC</a:t>
            </a:r>
          </a:p>
          <a:p>
            <a:pPr lvl="1">
              <a:spcAft>
                <a:spcPts val="500"/>
              </a:spcAft>
              <a:defRPr sz="1800"/>
            </a:pPr>
            <a:r>
              <a:rPr sz="2400" dirty="0"/>
              <a:t> Requirements Engineer, Software Architect, Designer, Developer, Software Quality Manager, Software Tester, Project Manager</a:t>
            </a:r>
          </a:p>
          <a:p>
            <a:pPr>
              <a:spcAft>
                <a:spcPts val="500"/>
              </a:spcAft>
              <a:defRPr sz="1800"/>
            </a:pPr>
            <a:r>
              <a:rPr sz="2400" dirty="0"/>
              <a:t>Get the involvement of senior executives and middle management</a:t>
            </a:r>
          </a:p>
          <a:p>
            <a:pPr>
              <a:spcAft>
                <a:spcPts val="500"/>
              </a:spcAft>
              <a:defRPr sz="1800"/>
            </a:pPr>
            <a:r>
              <a:rPr sz="2400" dirty="0"/>
              <a:t>Clients can sign SLA asking for security from application vendors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F2C28-B0B4-777F-3170-34108EFBCF51}"/>
              </a:ext>
            </a:extLst>
          </p:cNvPr>
          <p:cNvSpPr>
            <a:spLocks noGrp="1"/>
          </p:cNvSpPr>
          <p:nvPr>
            <p:ph type="title"/>
          </p:nvPr>
        </p:nvSpPr>
        <p:spPr/>
        <p:txBody>
          <a:bodyPr>
            <a:normAutofit fontScale="90000"/>
          </a:bodyPr>
          <a:lstStyle/>
          <a:p>
            <a:r>
              <a:rPr lang="en-US" dirty="0"/>
              <a:t>Software Security – Where does it fit in?</a:t>
            </a:r>
          </a:p>
        </p:txBody>
      </p:sp>
      <p:sp>
        <p:nvSpPr>
          <p:cNvPr id="3" name="Content Placeholder 2">
            <a:extLst>
              <a:ext uri="{FF2B5EF4-FFF2-40B4-BE49-F238E27FC236}">
                <a16:creationId xmlns:a16="http://schemas.microsoft.com/office/drawing/2014/main" id="{F2101DA2-5B7E-36B0-346E-8A3D3334A9D1}"/>
              </a:ext>
            </a:extLst>
          </p:cNvPr>
          <p:cNvSpPr>
            <a:spLocks noGrp="1"/>
          </p:cNvSpPr>
          <p:nvPr>
            <p:ph idx="1"/>
          </p:nvPr>
        </p:nvSpPr>
        <p:spPr/>
        <p:txBody>
          <a:bodyPr/>
          <a:lstStyle/>
          <a:p>
            <a:r>
              <a:rPr lang="en-US" sz="3200" dirty="0">
                <a:hlinkClick r:id="rId2"/>
              </a:rPr>
              <a:t>https://www.youtube.com/watch?v=KG4F5xKqNf4</a:t>
            </a:r>
            <a:endParaRPr lang="en-US" sz="3200" dirty="0"/>
          </a:p>
          <a:p>
            <a:endParaRPr lang="en-US" dirty="0"/>
          </a:p>
        </p:txBody>
      </p:sp>
      <p:pic>
        <p:nvPicPr>
          <p:cNvPr id="5" name="Picture 4">
            <a:extLst>
              <a:ext uri="{FF2B5EF4-FFF2-40B4-BE49-F238E27FC236}">
                <a16:creationId xmlns:a16="http://schemas.microsoft.com/office/drawing/2014/main" id="{DB6A6F0D-4D93-1C20-6191-5843C1F90873}"/>
              </a:ext>
            </a:extLst>
          </p:cNvPr>
          <p:cNvPicPr>
            <a:picLocks noChangeAspect="1"/>
          </p:cNvPicPr>
          <p:nvPr/>
        </p:nvPicPr>
        <p:blipFill>
          <a:blip r:embed="rId3"/>
          <a:stretch>
            <a:fillRect/>
          </a:stretch>
        </p:blipFill>
        <p:spPr>
          <a:xfrm>
            <a:off x="457200" y="2819400"/>
            <a:ext cx="8372475" cy="3905250"/>
          </a:xfrm>
          <a:prstGeom prst="rect">
            <a:avLst/>
          </a:prstGeom>
        </p:spPr>
      </p:pic>
    </p:spTree>
    <p:extLst>
      <p:ext uri="{BB962C8B-B14F-4D97-AF65-F5344CB8AC3E}">
        <p14:creationId xmlns:p14="http://schemas.microsoft.com/office/powerpoint/2010/main" val="39217408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Aspects of Software Security</a:t>
            </a:r>
          </a:p>
        </p:txBody>
      </p:sp>
      <p:sp>
        <p:nvSpPr>
          <p:cNvPr id="3" name="Content Placeholder 2"/>
          <p:cNvSpPr>
            <a:spLocks noGrp="1"/>
          </p:cNvSpPr>
          <p:nvPr>
            <p:ph idx="1"/>
          </p:nvPr>
        </p:nvSpPr>
        <p:spPr/>
        <p:txBody>
          <a:bodyPr>
            <a:noAutofit/>
          </a:bodyPr>
          <a:lstStyle/>
          <a:p>
            <a:endParaRPr sz="2400" dirty="0"/>
          </a:p>
          <a:p>
            <a:pPr>
              <a:spcAft>
                <a:spcPts val="500"/>
              </a:spcAft>
              <a:defRPr sz="1800"/>
            </a:pPr>
            <a:r>
              <a:rPr sz="2400" dirty="0"/>
              <a:t>Code Level Security, User Input Verification</a:t>
            </a:r>
          </a:p>
          <a:p>
            <a:pPr>
              <a:spcAft>
                <a:spcPts val="500"/>
              </a:spcAft>
              <a:defRPr sz="1800"/>
            </a:pPr>
            <a:r>
              <a:rPr sz="2400" dirty="0"/>
              <a:t>Differences in Programming Languages and Operating Systems and how it affects Software Development</a:t>
            </a:r>
          </a:p>
          <a:p>
            <a:pPr>
              <a:spcAft>
                <a:spcPts val="500"/>
              </a:spcAft>
              <a:defRPr sz="1800"/>
            </a:pPr>
            <a:r>
              <a:rPr sz="2400" dirty="0"/>
              <a:t>Cryptography</a:t>
            </a:r>
          </a:p>
          <a:p>
            <a:pPr>
              <a:spcAft>
                <a:spcPts val="500"/>
              </a:spcAft>
              <a:defRPr sz="1800"/>
            </a:pPr>
            <a:r>
              <a:rPr sz="2400" dirty="0"/>
              <a:t>Access Control Mechanisms</a:t>
            </a:r>
          </a:p>
          <a:p>
            <a:pPr>
              <a:spcAft>
                <a:spcPts val="500"/>
              </a:spcAft>
              <a:defRPr sz="1800"/>
            </a:pPr>
            <a:r>
              <a:rPr sz="2400" dirty="0"/>
              <a:t>Security on data-at-rest</a:t>
            </a:r>
          </a:p>
          <a:p>
            <a:pPr>
              <a:spcAft>
                <a:spcPts val="500"/>
              </a:spcAft>
              <a:defRPr sz="1800"/>
            </a:pPr>
            <a:r>
              <a:rPr sz="2400" dirty="0"/>
              <a:t>Security on data-transport (Security Protocols such as SSL/TLS)</a:t>
            </a:r>
          </a:p>
          <a:p>
            <a:pPr>
              <a:spcAft>
                <a:spcPts val="500"/>
              </a:spcAft>
              <a:defRPr sz="1800"/>
            </a:pPr>
            <a:r>
              <a:rPr sz="2400" dirty="0"/>
              <a:t>Penetration Testing and Vulnerability Assessments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Is Software Security Costly?</a:t>
            </a:r>
          </a:p>
        </p:txBody>
      </p:sp>
      <p:sp>
        <p:nvSpPr>
          <p:cNvPr id="3" name="Content Placeholder 2"/>
          <p:cNvSpPr>
            <a:spLocks noGrp="1"/>
          </p:cNvSpPr>
          <p:nvPr>
            <p:ph idx="1"/>
          </p:nvPr>
        </p:nvSpPr>
        <p:spPr/>
        <p:txBody>
          <a:bodyPr>
            <a:normAutofit/>
          </a:bodyPr>
          <a:lstStyle/>
          <a:p>
            <a:endParaRPr sz="2800" dirty="0"/>
          </a:p>
          <a:p>
            <a:pPr>
              <a:spcAft>
                <a:spcPts val="500"/>
              </a:spcAft>
              <a:defRPr sz="1800"/>
            </a:pPr>
            <a:r>
              <a:rPr sz="2800" dirty="0"/>
              <a:t>Yes, if you only look at the cost from requirement capture to ship.</a:t>
            </a:r>
          </a:p>
          <a:p>
            <a:pPr>
              <a:spcAft>
                <a:spcPts val="500"/>
              </a:spcAft>
              <a:defRPr sz="1800"/>
            </a:pPr>
            <a:r>
              <a:rPr sz="2800" dirty="0"/>
              <a:t>NO, if you are considering total cost which includes requirement capture to ship and the cost associated after deployment such as fixing bugs, doing revisions, etc.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Software Security</a:t>
            </a:r>
          </a:p>
        </p:txBody>
      </p:sp>
      <p:sp>
        <p:nvSpPr>
          <p:cNvPr id="3" name="Content Placeholder 2"/>
          <p:cNvSpPr>
            <a:spLocks noGrp="1"/>
          </p:cNvSpPr>
          <p:nvPr>
            <p:ph idx="1"/>
          </p:nvPr>
        </p:nvSpPr>
        <p:spPr/>
        <p:txBody>
          <a:bodyPr>
            <a:normAutofit/>
          </a:bodyPr>
          <a:lstStyle/>
          <a:p>
            <a:endParaRPr sz="2800" dirty="0"/>
          </a:p>
          <a:p>
            <a:pPr>
              <a:spcAft>
                <a:spcPts val="500"/>
              </a:spcAft>
              <a:defRPr sz="1800"/>
            </a:pPr>
            <a:r>
              <a:rPr sz="2800" dirty="0"/>
              <a:t>Engineering Software so that it continues to function correctly even under malicious attack</a:t>
            </a:r>
          </a:p>
          <a:p>
            <a:pPr>
              <a:spcAft>
                <a:spcPts val="500"/>
              </a:spcAft>
              <a:defRPr sz="1800"/>
            </a:pPr>
            <a:r>
              <a:rPr sz="2800" dirty="0"/>
              <a:t>Build Security In is a collaborative effort that provides practices, tools, guidelines, rules, principles, and other resources that software developers, architects, and security practitioners can use to build security into software in every phase of its development.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p:txBody>
          <a:bodyPr/>
          <a:lstStyle/>
          <a:p>
            <a:r>
              <a:rPr lang="en-US" dirty="0"/>
              <a:t>WSO2 Security engineering guidelines</a:t>
            </a:r>
          </a:p>
          <a:p>
            <a:endParaRPr lang="en-US" dirty="0"/>
          </a:p>
          <a:p>
            <a:r>
              <a:rPr lang="en-US" dirty="0">
                <a:hlinkClick r:id="rId2"/>
              </a:rPr>
              <a:t>https://wso2.com/technical-reports/wso2-secure-engineering-guidelines</a:t>
            </a:r>
            <a:endParaRPr lang="en-US" dirty="0"/>
          </a:p>
          <a:p>
            <a:endParaRPr lang="en-US" dirty="0"/>
          </a:p>
        </p:txBody>
      </p:sp>
    </p:spTree>
    <p:extLst>
      <p:ext uri="{BB962C8B-B14F-4D97-AF65-F5344CB8AC3E}">
        <p14:creationId xmlns:p14="http://schemas.microsoft.com/office/powerpoint/2010/main" val="14368832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Real-World Examples of Software Security Breaches</a:t>
            </a:r>
          </a:p>
        </p:txBody>
      </p:sp>
      <p:sp>
        <p:nvSpPr>
          <p:cNvPr id="3" name="Content Placeholder 2"/>
          <p:cNvSpPr>
            <a:spLocks noGrp="1"/>
          </p:cNvSpPr>
          <p:nvPr>
            <p:ph idx="1"/>
          </p:nvPr>
        </p:nvSpPr>
        <p:spPr/>
        <p:txBody>
          <a:bodyPr/>
          <a:lstStyle/>
          <a:p>
            <a:r>
              <a:rPr dirty="0">
                <a:hlinkClick r:id="rId2"/>
              </a:rPr>
              <a:t>SolarWinds supply chain attack.</a:t>
            </a:r>
            <a:endParaRPr dirty="0"/>
          </a:p>
          <a:p>
            <a:r>
              <a:rPr dirty="0">
                <a:hlinkClick r:id="rId3"/>
              </a:rPr>
              <a:t>Equifax data breach.</a:t>
            </a:r>
            <a:endParaRPr dirty="0"/>
          </a:p>
          <a:p>
            <a:r>
              <a:rPr dirty="0">
                <a:hlinkClick r:id="rId4"/>
              </a:rPr>
              <a:t>WannaCry ransomware attack.</a:t>
            </a:r>
            <a:endParaRPr dirty="0"/>
          </a:p>
          <a:p>
            <a:r>
              <a:rPr dirty="0"/>
              <a:t>Discussion: What went wrong?</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Runtime Application Security</a:t>
            </a:r>
          </a:p>
        </p:txBody>
      </p:sp>
      <p:sp>
        <p:nvSpPr>
          <p:cNvPr id="3" name="Content Placeholder 2"/>
          <p:cNvSpPr>
            <a:spLocks noGrp="1"/>
          </p:cNvSpPr>
          <p:nvPr>
            <p:ph idx="1"/>
          </p:nvPr>
        </p:nvSpPr>
        <p:spPr/>
        <p:txBody>
          <a:bodyPr/>
          <a:lstStyle/>
          <a:p>
            <a:r>
              <a:rPr dirty="0"/>
              <a:t>Runtime Application Self-Protection (RASP): Real-time protection against attacks.</a:t>
            </a:r>
          </a:p>
          <a:p>
            <a:r>
              <a:rPr dirty="0"/>
              <a:t>Memory protection (ASLR</a:t>
            </a:r>
            <a:r>
              <a:rPr lang="en-US" dirty="0"/>
              <a:t> - Address Space Layout Randomization</a:t>
            </a:r>
            <a:r>
              <a:rPr dirty="0"/>
              <a:t>, DEP</a:t>
            </a:r>
            <a:r>
              <a:rPr lang="en-US" dirty="0"/>
              <a:t> - Data Execution Prevention</a:t>
            </a:r>
            <a:r>
              <a:rPr dirty="0"/>
              <a:t>).</a:t>
            </a:r>
          </a:p>
          <a:p>
            <a:r>
              <a:rPr dirty="0"/>
              <a:t>Sandboxing and container security.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Overview of Software Security Standards</a:t>
            </a:r>
          </a:p>
        </p:txBody>
      </p:sp>
      <p:sp>
        <p:nvSpPr>
          <p:cNvPr id="3" name="Content Placeholder 2"/>
          <p:cNvSpPr>
            <a:spLocks noGrp="1"/>
          </p:cNvSpPr>
          <p:nvPr>
            <p:ph idx="1"/>
          </p:nvPr>
        </p:nvSpPr>
        <p:spPr/>
        <p:txBody>
          <a:bodyPr/>
          <a:lstStyle/>
          <a:p>
            <a:r>
              <a:rPr dirty="0"/>
              <a:t>OWASP (Open Web Application Security Project).</a:t>
            </a:r>
          </a:p>
          <a:p>
            <a:r>
              <a:rPr dirty="0"/>
              <a:t>ISO/IEC 27001: Information Security Management.</a:t>
            </a:r>
          </a:p>
          <a:p>
            <a:r>
              <a:rPr dirty="0"/>
              <a:t>NIST Cybersecurity Framework.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Cryptography in Software Security</a:t>
            </a:r>
          </a:p>
        </p:txBody>
      </p:sp>
      <p:sp>
        <p:nvSpPr>
          <p:cNvPr id="3" name="Content Placeholder 2"/>
          <p:cNvSpPr>
            <a:spLocks noGrp="1"/>
          </p:cNvSpPr>
          <p:nvPr>
            <p:ph idx="1"/>
          </p:nvPr>
        </p:nvSpPr>
        <p:spPr/>
        <p:txBody>
          <a:bodyPr/>
          <a:lstStyle/>
          <a:p>
            <a:r>
              <a:rPr dirty="0"/>
              <a:t>Role of cryptography in securing data.</a:t>
            </a:r>
          </a:p>
          <a:p>
            <a:r>
              <a:rPr dirty="0"/>
              <a:t>Symmetric vs. asymmetric encryption.</a:t>
            </a:r>
          </a:p>
          <a:p>
            <a:r>
              <a:rPr dirty="0"/>
              <a:t>Examples: AES, RSA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Regulatory and Compliance Requirements</a:t>
            </a:r>
          </a:p>
        </p:txBody>
      </p:sp>
      <p:sp>
        <p:nvSpPr>
          <p:cNvPr id="3" name="Content Placeholder 2"/>
          <p:cNvSpPr>
            <a:spLocks noGrp="1"/>
          </p:cNvSpPr>
          <p:nvPr>
            <p:ph idx="1"/>
          </p:nvPr>
        </p:nvSpPr>
        <p:spPr/>
        <p:txBody>
          <a:bodyPr/>
          <a:lstStyle/>
          <a:p>
            <a:r>
              <a:rPr dirty="0"/>
              <a:t>GDPR (General Data Protection Regulation).</a:t>
            </a:r>
          </a:p>
          <a:p>
            <a:r>
              <a:rPr dirty="0"/>
              <a:t>HIPAA (Health Insurance Portability and Accountability Act).</a:t>
            </a:r>
          </a:p>
          <a:p>
            <a:r>
              <a:rPr dirty="0"/>
              <a:t>PCI-DSS (Payment Card Industry Data Security Standard).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Emerging Trends in Software Security</a:t>
            </a:r>
          </a:p>
        </p:txBody>
      </p:sp>
      <p:sp>
        <p:nvSpPr>
          <p:cNvPr id="3" name="Content Placeholder 2"/>
          <p:cNvSpPr>
            <a:spLocks noGrp="1"/>
          </p:cNvSpPr>
          <p:nvPr>
            <p:ph idx="1"/>
          </p:nvPr>
        </p:nvSpPr>
        <p:spPr/>
        <p:txBody>
          <a:bodyPr/>
          <a:lstStyle/>
          <a:p>
            <a:r>
              <a:rPr dirty="0"/>
              <a:t>Zero Trust Architecture</a:t>
            </a:r>
            <a:r>
              <a:rPr lang="en-US" dirty="0"/>
              <a:t> (ZTA)</a:t>
            </a:r>
            <a:r>
              <a:rPr dirty="0"/>
              <a:t>.</a:t>
            </a:r>
          </a:p>
          <a:p>
            <a:r>
              <a:rPr dirty="0"/>
              <a:t>Security in AI-driven applications.</a:t>
            </a:r>
          </a:p>
          <a:p>
            <a:r>
              <a:rPr dirty="0"/>
              <a:t>Post-quantum cryptography.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Summary of Key Takeaways</a:t>
            </a:r>
          </a:p>
        </p:txBody>
      </p:sp>
      <p:sp>
        <p:nvSpPr>
          <p:cNvPr id="3" name="Content Placeholder 2"/>
          <p:cNvSpPr>
            <a:spLocks noGrp="1"/>
          </p:cNvSpPr>
          <p:nvPr>
            <p:ph idx="1"/>
          </p:nvPr>
        </p:nvSpPr>
        <p:spPr/>
        <p:txBody>
          <a:bodyPr/>
          <a:lstStyle/>
          <a:p>
            <a:r>
              <a:rPr dirty="0"/>
              <a:t>Software security is critical to modern systems.</a:t>
            </a:r>
          </a:p>
          <a:p>
            <a:r>
              <a:rPr dirty="0"/>
              <a:t>Common vulnerabilities can have severe consequences.</a:t>
            </a:r>
          </a:p>
          <a:p>
            <a:r>
              <a:rPr dirty="0"/>
              <a:t>Secure development practices and regular testing are essential.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Discussion Questions</a:t>
            </a:r>
          </a:p>
        </p:txBody>
      </p:sp>
      <p:sp>
        <p:nvSpPr>
          <p:cNvPr id="3" name="Content Placeholder 2"/>
          <p:cNvSpPr>
            <a:spLocks noGrp="1"/>
          </p:cNvSpPr>
          <p:nvPr>
            <p:ph idx="1"/>
          </p:nvPr>
        </p:nvSpPr>
        <p:spPr/>
        <p:txBody>
          <a:bodyPr/>
          <a:lstStyle/>
          <a:p>
            <a:r>
              <a:rPr dirty="0"/>
              <a:t>What are some examples of insecure software you have encountered?</a:t>
            </a:r>
          </a:p>
          <a:p>
            <a:r>
              <a:rPr dirty="0"/>
              <a:t>How can developers balance speed and security?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98FDD-3BC1-A76F-FC56-42979B7D1029}"/>
              </a:ext>
            </a:extLst>
          </p:cNvPr>
          <p:cNvSpPr>
            <a:spLocks noGrp="1"/>
          </p:cNvSpPr>
          <p:nvPr>
            <p:ph type="title"/>
          </p:nvPr>
        </p:nvSpPr>
        <p:spPr>
          <a:xfrm>
            <a:off x="358140" y="0"/>
            <a:ext cx="8229600" cy="1143000"/>
          </a:xfrm>
        </p:spPr>
        <p:txBody>
          <a:bodyPr/>
          <a:lstStyle/>
          <a:p>
            <a:r>
              <a:rPr lang="en-US" dirty="0"/>
              <a:t>Sample answers</a:t>
            </a:r>
          </a:p>
        </p:txBody>
      </p:sp>
      <p:sp>
        <p:nvSpPr>
          <p:cNvPr id="3" name="Content Placeholder 2">
            <a:extLst>
              <a:ext uri="{FF2B5EF4-FFF2-40B4-BE49-F238E27FC236}">
                <a16:creationId xmlns:a16="http://schemas.microsoft.com/office/drawing/2014/main" id="{FEAFC1C7-1FA5-5461-ABD6-F586989F02B2}"/>
              </a:ext>
            </a:extLst>
          </p:cNvPr>
          <p:cNvSpPr>
            <a:spLocks noGrp="1"/>
          </p:cNvSpPr>
          <p:nvPr>
            <p:ph idx="1"/>
          </p:nvPr>
        </p:nvSpPr>
        <p:spPr>
          <a:xfrm>
            <a:off x="358140" y="990600"/>
            <a:ext cx="8229600" cy="4525963"/>
          </a:xfrm>
        </p:spPr>
        <p:txBody>
          <a:bodyPr>
            <a:normAutofit/>
          </a:bodyPr>
          <a:lstStyle/>
          <a:p>
            <a:pPr marL="0" indent="0">
              <a:buNone/>
            </a:pPr>
            <a:r>
              <a:rPr lang="en-US" sz="2800" b="1" baseline="-25000" dirty="0"/>
              <a:t>1. What are some examples of insecure software you have encountered?</a:t>
            </a:r>
            <a:endParaRPr lang="en-US" sz="2800" baseline="-25000" dirty="0"/>
          </a:p>
          <a:p>
            <a:pPr marL="0" indent="0">
              <a:buNone/>
            </a:pPr>
            <a:r>
              <a:rPr lang="en-US" sz="2800" baseline="-25000" dirty="0"/>
              <a:t>- Applications that allow weak passwords such as 123456</a:t>
            </a:r>
          </a:p>
          <a:p>
            <a:pPr marL="0" indent="0">
              <a:buNone/>
            </a:pPr>
            <a:r>
              <a:rPr lang="en-US" sz="2800" baseline="-25000" dirty="0"/>
              <a:t>- Websites that send passwords or personal data without encryption</a:t>
            </a:r>
          </a:p>
          <a:p>
            <a:pPr marL="0" indent="0">
              <a:buNone/>
            </a:pPr>
            <a:r>
              <a:rPr lang="en-US" sz="2800" baseline="-25000" dirty="0"/>
              <a:t>- Systems that do not log users out after long periods of inactivity</a:t>
            </a:r>
          </a:p>
          <a:p>
            <a:pPr marL="0" indent="0">
              <a:buNone/>
            </a:pPr>
            <a:r>
              <a:rPr lang="en-US" sz="2800" baseline="-25000" dirty="0"/>
              <a:t>- Mobile apps requesting unnecessary permissions</a:t>
            </a:r>
          </a:p>
          <a:p>
            <a:pPr marL="0" indent="0">
              <a:buNone/>
            </a:pPr>
            <a:r>
              <a:rPr lang="en-US" sz="2800" baseline="-25000" dirty="0"/>
              <a:t>- Software with outdated libraries and unpatched vulnerabilities</a:t>
            </a:r>
          </a:p>
          <a:p>
            <a:pPr marL="0" indent="0">
              <a:buNone/>
            </a:pPr>
            <a:r>
              <a:rPr lang="en-US" sz="2800" baseline="-25000" dirty="0"/>
              <a:t>- Applications that reveal detailed error messages, database information, or system paths</a:t>
            </a:r>
          </a:p>
          <a:p>
            <a:pPr marL="0" indent="0">
              <a:buNone/>
            </a:pPr>
            <a:r>
              <a:rPr lang="en-US" sz="2800" baseline="-25000" dirty="0"/>
              <a:t>- Systems without proper access control, allowing users to view or modify other users’ data</a:t>
            </a:r>
          </a:p>
        </p:txBody>
      </p:sp>
    </p:spTree>
    <p:extLst>
      <p:ext uri="{BB962C8B-B14F-4D97-AF65-F5344CB8AC3E}">
        <p14:creationId xmlns:p14="http://schemas.microsoft.com/office/powerpoint/2010/main" val="1903229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9DF0D-30AA-40EF-C7AC-18A6B7B2A932}"/>
              </a:ext>
            </a:extLst>
          </p:cNvPr>
          <p:cNvSpPr>
            <a:spLocks noGrp="1"/>
          </p:cNvSpPr>
          <p:nvPr>
            <p:ph type="title"/>
          </p:nvPr>
        </p:nvSpPr>
        <p:spPr/>
        <p:txBody>
          <a:bodyPr/>
          <a:lstStyle/>
          <a:p>
            <a:r>
              <a:rPr lang="en-US" dirty="0"/>
              <a:t>Sample answers</a:t>
            </a:r>
          </a:p>
        </p:txBody>
      </p:sp>
      <p:sp>
        <p:nvSpPr>
          <p:cNvPr id="3" name="Content Placeholder 2">
            <a:extLst>
              <a:ext uri="{FF2B5EF4-FFF2-40B4-BE49-F238E27FC236}">
                <a16:creationId xmlns:a16="http://schemas.microsoft.com/office/drawing/2014/main" id="{B9DD0440-73B5-2377-4B35-00AE21788BF7}"/>
              </a:ext>
            </a:extLst>
          </p:cNvPr>
          <p:cNvSpPr>
            <a:spLocks noGrp="1"/>
          </p:cNvSpPr>
          <p:nvPr>
            <p:ph idx="1"/>
          </p:nvPr>
        </p:nvSpPr>
        <p:spPr>
          <a:xfrm>
            <a:off x="381000" y="846138"/>
            <a:ext cx="8229600" cy="4525963"/>
          </a:xfrm>
        </p:spPr>
        <p:txBody>
          <a:bodyPr>
            <a:normAutofit/>
          </a:bodyPr>
          <a:lstStyle/>
          <a:p>
            <a:pPr marL="0" indent="0">
              <a:buNone/>
            </a:pPr>
            <a:endParaRPr lang="en-US" baseline="-25000" dirty="0"/>
          </a:p>
          <a:p>
            <a:pPr marL="0" indent="0">
              <a:buNone/>
            </a:pPr>
            <a:r>
              <a:rPr lang="en-US" b="1" baseline="-25000" dirty="0"/>
              <a:t>2. How can developers balance speed and security?</a:t>
            </a:r>
            <a:r>
              <a:rPr lang="en-US" baseline="-25000" dirty="0"/>
              <a:t>:</a:t>
            </a:r>
          </a:p>
          <a:p>
            <a:pPr marL="0" indent="0">
              <a:buNone/>
            </a:pPr>
            <a:r>
              <a:rPr lang="en-US" baseline="-25000" dirty="0"/>
              <a:t>- Define essential security requirements early</a:t>
            </a:r>
          </a:p>
          <a:p>
            <a:pPr marL="0" indent="0">
              <a:buNone/>
            </a:pPr>
            <a:r>
              <a:rPr lang="en-US" baseline="-25000" dirty="0"/>
              <a:t>- Use secure frameworks, libraries, and reusable components</a:t>
            </a:r>
          </a:p>
          <a:p>
            <a:pPr marL="0" indent="0">
              <a:buNone/>
            </a:pPr>
            <a:r>
              <a:rPr lang="en-US" baseline="-25000" dirty="0"/>
              <a:t>- Automate code scanning, dependency checks, and security testing</a:t>
            </a:r>
          </a:p>
          <a:p>
            <a:pPr marL="0" indent="0">
              <a:buNone/>
            </a:pPr>
            <a:r>
              <a:rPr lang="en-US" baseline="-25000" dirty="0"/>
              <a:t>Prioritize high-risk vulnerabilities first</a:t>
            </a:r>
          </a:p>
          <a:p>
            <a:pPr marL="0" indent="0">
              <a:buNone/>
            </a:pPr>
            <a:r>
              <a:rPr lang="en-US" baseline="-25000" dirty="0"/>
              <a:t>- Apply secure coding standards and peer reviews</a:t>
            </a:r>
          </a:p>
          <a:p>
            <a:pPr marL="0" indent="0">
              <a:buNone/>
            </a:pPr>
            <a:r>
              <a:rPr lang="en-US" baseline="-25000" dirty="0"/>
              <a:t>- Use threat modelling for important features</a:t>
            </a:r>
          </a:p>
          <a:p>
            <a:pPr marL="0" indent="0">
              <a:buNone/>
            </a:pPr>
            <a:r>
              <a:rPr lang="en-US" baseline="-25000" dirty="0"/>
              <a:t>- Release software in small, tested increments</a:t>
            </a:r>
          </a:p>
          <a:p>
            <a:pPr marL="0" indent="0">
              <a:buNone/>
            </a:pPr>
            <a:r>
              <a:rPr lang="en-US" baseline="-25000" dirty="0"/>
              <a:t>- Avoid delaying critical security fixes for delivery deadlines</a:t>
            </a:r>
          </a:p>
          <a:p>
            <a:pPr marL="0" indent="0">
              <a:buNone/>
            </a:pPr>
            <a:r>
              <a:rPr lang="en-US" baseline="-25000" dirty="0"/>
              <a:t>-</a:t>
            </a:r>
          </a:p>
          <a:p>
            <a:pPr marL="0" indent="0">
              <a:buNone/>
            </a:pPr>
            <a:endParaRPr lang="en-US" baseline="-25000" dirty="0"/>
          </a:p>
          <a:p>
            <a:endParaRPr lang="en-US" dirty="0"/>
          </a:p>
        </p:txBody>
      </p:sp>
    </p:spTree>
    <p:extLst>
      <p:ext uri="{BB962C8B-B14F-4D97-AF65-F5344CB8AC3E}">
        <p14:creationId xmlns:p14="http://schemas.microsoft.com/office/powerpoint/2010/main" val="17920955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References</a:t>
            </a:r>
          </a:p>
        </p:txBody>
      </p:sp>
      <p:sp>
        <p:nvSpPr>
          <p:cNvPr id="3" name="Content Placeholder 2"/>
          <p:cNvSpPr>
            <a:spLocks noGrp="1"/>
          </p:cNvSpPr>
          <p:nvPr>
            <p:ph idx="1"/>
          </p:nvPr>
        </p:nvSpPr>
        <p:spPr/>
        <p:txBody>
          <a:bodyPr>
            <a:normAutofit/>
          </a:bodyPr>
          <a:lstStyle/>
          <a:p>
            <a:r>
              <a:rPr sz="2400" dirty="0"/>
              <a:t>OWASP Foundation</a:t>
            </a:r>
            <a:r>
              <a:rPr lang="en-US" sz="2400" dirty="0"/>
              <a:t> (</a:t>
            </a:r>
            <a:r>
              <a:rPr lang="en-US" sz="2400" dirty="0">
                <a:hlinkClick r:id="rId2"/>
              </a:rPr>
              <a:t>https://www.owasp.org</a:t>
            </a:r>
            <a:r>
              <a:rPr lang="en-US" sz="2400" dirty="0"/>
              <a:t>)</a:t>
            </a:r>
            <a:r>
              <a:rPr sz="2400" dirty="0"/>
              <a:t>.</a:t>
            </a:r>
          </a:p>
          <a:p>
            <a:r>
              <a:rPr sz="2400" dirty="0"/>
              <a:t>NIST Cybersecurity Framework</a:t>
            </a:r>
            <a:r>
              <a:rPr lang="en-US" sz="2400" dirty="0"/>
              <a:t> (</a:t>
            </a:r>
            <a:r>
              <a:rPr lang="en-US" sz="2400" dirty="0">
                <a:hlinkClick r:id="rId3"/>
              </a:rPr>
              <a:t>https://www.nist.gov/cyberframework</a:t>
            </a:r>
            <a:r>
              <a:rPr lang="en-US" sz="2400" dirty="0"/>
              <a:t>) </a:t>
            </a:r>
            <a:r>
              <a:rPr sz="2400" dirty="0"/>
              <a:t>.</a:t>
            </a:r>
            <a:endParaRPr lang="en-US" sz="2400" dirty="0"/>
          </a:p>
          <a:p>
            <a:r>
              <a:rPr lang="en-US" sz="2400" dirty="0">
                <a:hlinkClick r:id="rId4"/>
              </a:rPr>
              <a:t>https://www.blackhat.com/presentations/bh-usa-06/bh-us-06-Morana-R3.0.pdf</a:t>
            </a:r>
            <a:endParaRPr lang="en-US" sz="2400" dirty="0"/>
          </a:p>
          <a:p>
            <a:r>
              <a:rPr sz="2400" dirty="0"/>
              <a:t>Real-world case studies (e.g., SolarWinds, Equifax).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5534</TotalTime>
  <Words>1625</Words>
  <Application>Microsoft Office PowerPoint</Application>
  <PresentationFormat>On-screen Show (4:3)</PresentationFormat>
  <Paragraphs>246</Paragraphs>
  <Slides>44</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Introduction to Software Security</vt:lpstr>
      <vt:lpstr>About me</vt:lpstr>
      <vt:lpstr>Course Objectives</vt:lpstr>
      <vt:lpstr>What is Software Security?</vt:lpstr>
      <vt:lpstr>Secure Software?</vt:lpstr>
      <vt:lpstr>Key Principles of Software Security</vt:lpstr>
      <vt:lpstr>Why is Software Security Important?</vt:lpstr>
      <vt:lpstr>Challenges in Software Security</vt:lpstr>
      <vt:lpstr>Common Software Security Threats</vt:lpstr>
      <vt:lpstr>Common Vulnerabilities</vt:lpstr>
      <vt:lpstr>Software Security vs. Application Security</vt:lpstr>
      <vt:lpstr>Software security vs Application security</vt:lpstr>
      <vt:lpstr>Common Practices in Application Security</vt:lpstr>
      <vt:lpstr>PowerPoint Presentation</vt:lpstr>
      <vt:lpstr>Issues with security breaches</vt:lpstr>
      <vt:lpstr>PowerPoint Presentation</vt:lpstr>
      <vt:lpstr>Cost of fixing bugs</vt:lpstr>
      <vt:lpstr>Why application security is not good enough?</vt:lpstr>
      <vt:lpstr>Build Security In</vt:lpstr>
      <vt:lpstr>Secure Software Development Lifecycle (S-SDLC)</vt:lpstr>
      <vt:lpstr>Secure Software Development Lifecycle (SDLC)</vt:lpstr>
      <vt:lpstr>Secure Software Development Lifecycle (S-SDLC)</vt:lpstr>
      <vt:lpstr>Threat Modeling Basics</vt:lpstr>
      <vt:lpstr>Secure Coding Practices</vt:lpstr>
      <vt:lpstr>Vulnerability Management</vt:lpstr>
      <vt:lpstr>Importance of Security Testing</vt:lpstr>
      <vt:lpstr>How to implement a S-SDLC</vt:lpstr>
      <vt:lpstr>How to Implement a S-SDLC…</vt:lpstr>
      <vt:lpstr>Software Security – Where does it fit in?</vt:lpstr>
      <vt:lpstr>Aspects of Software Security</vt:lpstr>
      <vt:lpstr>Is Software Security Costly?</vt:lpstr>
      <vt:lpstr>Software Security</vt:lpstr>
      <vt:lpstr>Example</vt:lpstr>
      <vt:lpstr>Real-World Examples of Software Security Breaches</vt:lpstr>
      <vt:lpstr>Runtime Application Security</vt:lpstr>
      <vt:lpstr>Overview of Software Security Standards</vt:lpstr>
      <vt:lpstr>Cryptography in Software Security</vt:lpstr>
      <vt:lpstr>Regulatory and Compliance Requirements</vt:lpstr>
      <vt:lpstr>Emerging Trends in Software Security</vt:lpstr>
      <vt:lpstr>Summary of Key Takeaways</vt:lpstr>
      <vt:lpstr>Discussion Questions</vt:lpstr>
      <vt:lpstr>Sample answers</vt:lpstr>
      <vt:lpstr>Sample answers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Dharshana Kasthurirathna</dc:creator>
  <cp:lastModifiedBy>Dharshana Kasthurirathna</cp:lastModifiedBy>
  <cp:revision>106</cp:revision>
  <dcterms:created xsi:type="dcterms:W3CDTF">2019-01-20T01:46:10Z</dcterms:created>
  <dcterms:modified xsi:type="dcterms:W3CDTF">2026-07-13T11:08:27Z</dcterms:modified>
</cp:coreProperties>
</file>